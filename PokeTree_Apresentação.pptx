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8" r:id="rId4"/>
    <p:sldId id="277" r:id="rId5"/>
    <p:sldId id="258" r:id="rId6"/>
    <p:sldId id="259" r:id="rId7"/>
    <p:sldId id="260" r:id="rId8"/>
    <p:sldId id="279" r:id="rId9"/>
    <p:sldId id="280" r:id="rId10"/>
    <p:sldId id="281" r:id="rId11"/>
    <p:sldId id="282" r:id="rId12"/>
    <p:sldId id="283" r:id="rId13"/>
    <p:sldId id="261" r:id="rId14"/>
    <p:sldId id="262" r:id="rId15"/>
    <p:sldId id="265" r:id="rId16"/>
    <p:sldId id="270" r:id="rId17"/>
    <p:sldId id="271" r:id="rId18"/>
    <p:sldId id="275" r:id="rId19"/>
    <p:sldId id="276" r:id="rId20"/>
    <p:sldId id="263" r:id="rId21"/>
    <p:sldId id="26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74A209-8EDF-5BC0-0EE8-2A2D901372A7}" v="661" dt="2026-10-07T15:45:43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60FAC-97C9-4F97-8DEE-A0058C7BA089}" type="datetimeFigureOut">
              <a:t>10/7/2026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598DF-7236-480F-8C46-963B9CE3EDA5}" type="slidenum"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075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0E4F5-EBDC-1366-5729-E7AA5B89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E07A0-B289-2CA5-6DC3-D3C20467A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A3734-9AC5-23CE-A355-DA7AC44BE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2ACB3-7EC8-A114-1585-E0FDC8F7D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6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0291-C625-3183-CB18-0DC6667E5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F511F-35BD-B310-B7C0-324F8C037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62141-BBBE-97C3-8D76-E46ACCA17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25F3F-850B-0F36-1982-F72CDE037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63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F04F0-F142-92F4-9358-B2A381299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C0A45-3C31-0C29-4C22-C1B9F2C6E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E12C8-99A2-8237-80CB-921B5F7C0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344E6-8066-747A-14FD-B157425965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27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27450-A330-C490-81E3-AF099B15F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ACF66-8EA5-0EC2-B7AE-F161F8D52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1F7E0-6C46-04A9-D8C3-1B46689FC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5D46C-AA18-6037-A507-838267C7E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4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97F4B-9856-38FB-43F2-24806B3C9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F802B-1B81-479A-9B72-F595A4159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0781C-B4BD-9EC0-3A82-1E39C01B2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C148A-4B79-957B-B41D-46883B03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56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2285-DE61-1CFC-603A-96D6F168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55A4F-8FAB-9BCC-9639-D26E7EF47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7D9DF-DA96-ED90-ABF3-6DF65BBF9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2D3E9-0456-E425-E52F-AC36971CE3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92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7435-57DA-43E7-2D27-817D729A8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45B1C-87B7-AE03-B2FB-75A42634C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22416-361E-1F33-5457-A8B643E92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5991E-D305-E364-4CD3-63A6494174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37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1535-B4CD-4FEA-512C-DE297EFF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7B3E-54D7-0C1A-4275-C68A75E39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31220-682D-6314-B0DB-3CEAFE3B3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BE679-97BE-06BB-084C-6BC044197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95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1B61-BE94-BBF2-CC43-BB2C66A5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775A4-F207-BBFF-A6BE-5B8BD7A94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3E1D6-7C2B-7264-C224-6029B0246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2E06C-FEDD-C015-CCA7-178FC11869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90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8A2A-EC01-B951-C673-F399192F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9663B-1C52-7E6C-C6D1-DB45EE11F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F2941-C466-54CB-F0E2-D5C60CA72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5861F-5E76-2D4C-482C-5F169B386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26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14C64-971A-1076-75A9-70180400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0B19A-4D1C-B7E8-0AFB-1B557A1E7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8DF37-9ADD-E7AC-503B-75737587B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F4552-2A08-5C82-36C4-82198A393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33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0F0-2652-85DD-908D-C05FECF4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1F227-CE7C-1DD0-F00A-077D09488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4FF58-862A-7599-93F4-D0081FDC5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060A6-CF5C-7464-1352-3082389484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653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146182" y="72786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3" name="Shape 1"/>
          <p:cNvSpPr/>
          <p:nvPr/>
        </p:nvSpPr>
        <p:spPr>
          <a:xfrm>
            <a:off x="11067898" y="72786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4" name="Shape 2"/>
          <p:cNvSpPr/>
          <p:nvPr/>
        </p:nvSpPr>
        <p:spPr>
          <a:xfrm>
            <a:off x="10705795" y="36576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5" name="Shape 3"/>
          <p:cNvSpPr/>
          <p:nvPr/>
        </p:nvSpPr>
        <p:spPr>
          <a:xfrm>
            <a:off x="9784080" y="148498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6" name="Shape 4"/>
          <p:cNvSpPr/>
          <p:nvPr/>
        </p:nvSpPr>
        <p:spPr>
          <a:xfrm>
            <a:off x="11627510" y="148498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7" name="Shape 5"/>
          <p:cNvSpPr/>
          <p:nvPr/>
        </p:nvSpPr>
        <p:spPr>
          <a:xfrm flipV="1">
            <a:off x="10191902" y="191658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8" name="Shape 6"/>
          <p:cNvSpPr/>
          <p:nvPr/>
        </p:nvSpPr>
        <p:spPr>
          <a:xfrm>
            <a:off x="11113618" y="191658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9" name="Shape 7"/>
          <p:cNvSpPr/>
          <p:nvPr/>
        </p:nvSpPr>
        <p:spPr>
          <a:xfrm>
            <a:off x="10751515" y="155448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0" name="Shape 8"/>
          <p:cNvSpPr/>
          <p:nvPr/>
        </p:nvSpPr>
        <p:spPr>
          <a:xfrm>
            <a:off x="9829800" y="267370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1" name="Shape 9"/>
          <p:cNvSpPr/>
          <p:nvPr/>
        </p:nvSpPr>
        <p:spPr>
          <a:xfrm>
            <a:off x="11673230" y="267370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2" name="Shape 10"/>
          <p:cNvSpPr/>
          <p:nvPr/>
        </p:nvSpPr>
        <p:spPr>
          <a:xfrm flipV="1">
            <a:off x="10237622" y="310530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3" name="Shape 11"/>
          <p:cNvSpPr/>
          <p:nvPr/>
        </p:nvSpPr>
        <p:spPr>
          <a:xfrm>
            <a:off x="11159338" y="310530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4" name="Shape 12"/>
          <p:cNvSpPr/>
          <p:nvPr/>
        </p:nvSpPr>
        <p:spPr>
          <a:xfrm>
            <a:off x="10797235" y="274320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5" name="Shape 13"/>
          <p:cNvSpPr/>
          <p:nvPr/>
        </p:nvSpPr>
        <p:spPr>
          <a:xfrm>
            <a:off x="9875520" y="386242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6" name="Shape 14"/>
          <p:cNvSpPr/>
          <p:nvPr/>
        </p:nvSpPr>
        <p:spPr>
          <a:xfrm>
            <a:off x="11718950" y="386242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7" name="Shape 15"/>
          <p:cNvSpPr/>
          <p:nvPr/>
        </p:nvSpPr>
        <p:spPr>
          <a:xfrm flipV="1">
            <a:off x="10146182" y="429402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8" name="Shape 16"/>
          <p:cNvSpPr/>
          <p:nvPr/>
        </p:nvSpPr>
        <p:spPr>
          <a:xfrm>
            <a:off x="11067898" y="429402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9" name="Shape 17"/>
          <p:cNvSpPr/>
          <p:nvPr/>
        </p:nvSpPr>
        <p:spPr>
          <a:xfrm>
            <a:off x="10705795" y="393192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0" name="Shape 18"/>
          <p:cNvSpPr/>
          <p:nvPr/>
        </p:nvSpPr>
        <p:spPr>
          <a:xfrm>
            <a:off x="9784080" y="505114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1" name="Shape 19"/>
          <p:cNvSpPr/>
          <p:nvPr/>
        </p:nvSpPr>
        <p:spPr>
          <a:xfrm>
            <a:off x="11627510" y="505114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2" name="Shape 20"/>
          <p:cNvSpPr/>
          <p:nvPr/>
        </p:nvSpPr>
        <p:spPr>
          <a:xfrm flipV="1">
            <a:off x="10191902" y="548274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3" name="Shape 21"/>
          <p:cNvSpPr/>
          <p:nvPr/>
        </p:nvSpPr>
        <p:spPr>
          <a:xfrm>
            <a:off x="11113618" y="548274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4" name="Shape 22"/>
          <p:cNvSpPr/>
          <p:nvPr/>
        </p:nvSpPr>
        <p:spPr>
          <a:xfrm>
            <a:off x="10751515" y="512064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5" name="Shape 23"/>
          <p:cNvSpPr/>
          <p:nvPr/>
        </p:nvSpPr>
        <p:spPr>
          <a:xfrm>
            <a:off x="9829800" y="623986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6" name="Shape 24"/>
          <p:cNvSpPr/>
          <p:nvPr/>
        </p:nvSpPr>
        <p:spPr>
          <a:xfrm>
            <a:off x="11673230" y="623986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7" name="Text 25"/>
          <p:cNvSpPr txBox="1"/>
          <p:nvPr/>
        </p:nvSpPr>
        <p:spPr>
          <a:xfrm>
            <a:off x="476753" y="635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II  ·  PROJETO DE UPGRADE DE JOGO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6753" y="1000952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PokeTree: Modo Desafio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Balanceamento Ativo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476753" y="27383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o Fator de Balanceamento da árvore AVL em uma mecânica ativa de jogabilidade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6753" y="3515552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6753" y="3652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base: PokeTree — Erik D. Demaine (MIT CSAIL / 6.1210)</a:t>
            </a:r>
            <a:endParaRPr lang="en-US" sz="125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0852E40-1ACC-9CA8-4BD7-1C61FE1B0726}"/>
              </a:ext>
            </a:extLst>
          </p:cNvPr>
          <p:cNvSpPr txBox="1"/>
          <p:nvPr/>
        </p:nvSpPr>
        <p:spPr>
          <a:xfrm>
            <a:off x="481788" y="4843995"/>
            <a:ext cx="310639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i="1" dirty="0">
                <a:solidFill>
                  <a:schemeClr val="bg1"/>
                </a:solidFill>
                <a:latin typeface="Cambria"/>
                <a:ea typeface="Cambria"/>
                <a:cs typeface="Calibri"/>
              </a:rPr>
              <a:t>Alunos: </a:t>
            </a:r>
            <a:endParaRPr lang="pt-PT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pt-PT" i="1" dirty="0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Artur Nunes Duarte</a:t>
            </a:r>
            <a:endParaRPr lang="pt-PT">
              <a:solidFill>
                <a:schemeClr val="accent2"/>
              </a:solidFill>
              <a:ea typeface="Calibri"/>
              <a:cs typeface="Calibri"/>
            </a:endParaRPr>
          </a:p>
          <a:p>
            <a:r>
              <a:rPr lang="pt-PT" i="1" dirty="0" err="1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Hasan</a:t>
            </a:r>
            <a:r>
              <a:rPr lang="pt-PT" i="1" dirty="0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 Sami </a:t>
            </a:r>
            <a:r>
              <a:rPr lang="pt-PT" i="1" dirty="0" err="1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Sad</a:t>
            </a:r>
            <a:endParaRPr lang="pt-PT" i="1" dirty="0">
              <a:solidFill>
                <a:schemeClr val="accent2"/>
              </a:solidFill>
              <a:latin typeface="Cambria"/>
              <a:ea typeface="Cambria"/>
              <a:cs typeface="Calibri"/>
            </a:endParaRPr>
          </a:p>
          <a:p>
            <a:r>
              <a:rPr lang="pt-PT" i="1" dirty="0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Isaque Costa Rodrigues</a:t>
            </a:r>
          </a:p>
          <a:p>
            <a:r>
              <a:rPr lang="pt-PT" i="1" dirty="0" err="1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Pietro</a:t>
            </a:r>
            <a:r>
              <a:rPr lang="pt-PT" i="1" dirty="0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 Cardia Cordeiro</a:t>
            </a:r>
          </a:p>
          <a:p>
            <a:r>
              <a:rPr lang="pt-PT" i="1" dirty="0">
                <a:solidFill>
                  <a:schemeClr val="accent2"/>
                </a:solidFill>
                <a:latin typeface="Cambria"/>
                <a:ea typeface="Cambria"/>
                <a:cs typeface="Calibri"/>
              </a:rPr>
              <a:t>Rafael Rodrigues Lins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REUSO DA LITERATURA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base: PokeTree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665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D. Demaine — professor de Ciência da Computação, MIT CSAIL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352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didático da disciplina 6.1210 · Introduction to Algorithms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039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Civet / TypeScript, Pug e Stylus — código aberto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725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github.com/edemaine/poketree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NA LITERATURA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377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 Tree Game (Plataforma 2D/3D)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1546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dependem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assume 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.”</a:t>
            </a:r>
            <a:endParaRPr lang="en-US" sz="1400" b="1" dirty="0"/>
          </a:p>
        </p:txBody>
      </p:sp>
      <p:sp>
        <p:nvSpPr>
          <p:cNvPr id="20" name="Shape 18"/>
          <p:cNvSpPr/>
          <p:nvPr/>
        </p:nvSpPr>
        <p:spPr>
          <a:xfrm>
            <a:off x="6812280" y="4160520"/>
            <a:ext cx="416052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43159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PokeTree, cada Pokémon é um nó visual e os comandos manipulam a árvore diretamente — exatamente essa categoria.</a:t>
            </a:r>
            <a:endParaRPr lang="en-US" sz="1400" b="1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9CDAF-AF12-D39F-96B7-4AB2B1B4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D9AFBC-6D9E-94F6-AF42-396394467D79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1 · Modelo de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Árvore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 BST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5F781A-89C7-9DFC-6883-60D3DC36B5BB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O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modelo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base: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PokeTree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- BST</a:t>
            </a:r>
            <a:endParaRPr lang="en-US" sz="3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15107C5-AD84-1754-3FCF-A16532C7E9C1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EA929DE-AD95-8929-27B9-BC570168A573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D09DD50-92C5-2A23-D675-B4A9F3F3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83" y="1532653"/>
            <a:ext cx="9018494" cy="470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5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DA4CF-CF16-947A-A7AB-2D0D680BE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F5F046-D8F6-CB0E-2166-41A879308305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1 · Modelo de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Árvore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 AVL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4EB995-8C49-3BE3-DA68-63DAE98C75C8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O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modelo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base: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PokeTree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- AVL</a:t>
            </a:r>
            <a:endParaRPr lang="en-US" sz="3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D2B19B-637E-CBE3-A5AD-F57DE691B327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C9738FA-262C-1E65-1A0E-EBF200D85B62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0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74774951-8B7A-54E5-EBBF-2AF681D64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82" y="1530121"/>
            <a:ext cx="9018495" cy="470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88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ESTADO DA ARTE  ·  ANÁLISE CRÍTICA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falha que o jogo original evidencia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AVL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Passividade do aluno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rebalanceamento acontece automaticamente e instantaneamente a cada inserção. O estudante observa o algoritmo agir, mas nunca decide quando ou qual rotação aplicar.</a:t>
            </a:r>
            <a:endParaRPr lang="en-US" sz="1600" b="1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434340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166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decisão do jogador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286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BST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346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Ausência de feedback loop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52044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jogador pode inserir Pokémon em qualquer ordem — inclusive uma ordem que degenera a árvore — sem qualquer alerta, cor ou consequência no jogo.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6629400" y="5029200"/>
            <a:ext cx="434340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5166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punição para o pior caso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REUSO E MELHORIA PROPOSTA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proposta: Modo Desafio de Balanceamento Ativo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modo, adicionado ao jogo sem alterar os modos BST e AVL originais, construído em três frentes: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305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1305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o Fator de Balanceamento (FB) de cada nó e um indicador visual de alerta de colapso.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192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Estilização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31927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estado de </a:t>
            </a: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 e piscar — para todo nó com |FB| &gt; 1.</a:t>
            </a:r>
            <a:endParaRPr lang="en-US" sz="1300" b="1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486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507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jogo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4503034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de segurança que impede novas inserções enquanto houver desbalanceamento. Por baixo dos panos, reaproveita os comandos de inserção sem rebalanceamento e rotação manual (r / l) do modo BST — sem alterá-lo.</a:t>
            </a:r>
            <a:endParaRPr lang="en-US" sz="1400" b="1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RIGOR TEÓRICO (ED II)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conceito por trás da mecânica: Fator de Balanceamento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480560" cy="3794760"/>
          </a:xfrm>
          <a:prstGeom prst="roundRect">
            <a:avLst>
              <a:gd name="adj" fmla="val 2892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(AVL)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FB(nó) = altura(direita) − altura(esquerda)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≤ 1  </a:t>
            </a:r>
            <a:r>
              <a:rPr lang="en-US" sz="14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nó balanceado
</a:t>
            </a: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&gt; 1  </a:t>
            </a:r>
            <a:r>
              <a:rPr lang="en-US" sz="14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propriedade AVL violada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572000"/>
            <a:ext cx="3840480" cy="0"/>
          </a:xfrm>
          <a:prstGeom prst="line">
            <a:avLst/>
          </a:prstGeom>
          <a:noFill/>
          <a:ln w="12700">
            <a:solidFill>
              <a:srgbClr val="223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68680" y="4480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9B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altura de cada nó já é calculada recursivamente pelo jogo original — reaproveitamos essa base, sem recriar a árvore.</a:t>
            </a:r>
            <a:endParaRPr lang="en-US" sz="1400" b="1" dirty="0"/>
          </a:p>
        </p:txBody>
      </p:sp>
      <p:sp>
        <p:nvSpPr>
          <p:cNvPr id="10" name="Shape 8"/>
          <p:cNvSpPr/>
          <p:nvPr/>
        </p:nvSpPr>
        <p:spPr>
          <a:xfrm>
            <a:off x="7360920" y="2761488"/>
            <a:ext cx="1417320" cy="283464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778240" y="3813048"/>
            <a:ext cx="1417320" cy="283464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976872" y="1993392"/>
            <a:ext cx="768096" cy="7680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976872" y="1993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22311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FB=+2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94192" y="3044952"/>
            <a:ext cx="768096" cy="768096"/>
          </a:xfrm>
          <a:prstGeom prst="ellipse">
            <a:avLst/>
          </a:prstGeom>
          <a:solidFill>
            <a:srgbClr val="F5F6F8"/>
          </a:solidFill>
          <a:ln w="1905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394192" y="3044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3282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FB=+1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11512" y="4096512"/>
            <a:ext cx="768096" cy="768096"/>
          </a:xfrm>
          <a:prstGeom prst="ellipse">
            <a:avLst/>
          </a:prstGeom>
          <a:solidFill>
            <a:srgbClr val="F5F6F8"/>
          </a:solidFill>
          <a:ln w="1905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811512" y="40965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652760" y="4334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FB=0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5532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Inserções em sequência crescente (10 → 20 → 30) geram o caso RR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D5318-7537-6D36-1218-73812117B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6E870A-0BD2-DD0E-E372-F5398FA974DB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3·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Demonstração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200" b="1" kern="0" spc="2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Código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 (ED II)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CF58C5-DF08-894B-0619-A66692A80E90}"/>
              </a:ext>
            </a:extLst>
          </p:cNvPr>
          <p:cNvSpPr txBox="1"/>
          <p:nvPr/>
        </p:nvSpPr>
        <p:spPr>
          <a:xfrm>
            <a:off x="548640" y="730355"/>
            <a:ext cx="3255196" cy="80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Lógica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</a:rPr>
              <a:t> Principal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68E1280-1D10-69DE-52D7-2DF04BE5C9DE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ACE3373-08AB-AC2B-B41F-AE34740C8B98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CD2235B-955A-723E-D274-A7FFF9DF4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97" y="2752136"/>
            <a:ext cx="5419725" cy="22955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4E78B8D-9DC8-9E61-1CED-2527A7DCB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324" y="2489238"/>
            <a:ext cx="5114925" cy="28384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BFAD689-DD55-154E-1FF5-5D6860386D34}"/>
              </a:ext>
            </a:extLst>
          </p:cNvPr>
          <p:cNvSpPr txBox="1"/>
          <p:nvPr/>
        </p:nvSpPr>
        <p:spPr>
          <a:xfrm>
            <a:off x="7944502" y="1714050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Calibri"/>
                <a:cs typeface="Calibri"/>
              </a:rPr>
              <a:t>Trava e </a:t>
            </a:r>
            <a:r>
              <a:rPr lang="en-US" dirty="0" err="1">
                <a:ea typeface="Calibri"/>
                <a:cs typeface="Calibri"/>
              </a:rPr>
              <a:t>condição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derrota</a:t>
            </a:r>
            <a:endParaRPr lang="en-US" dirty="0" err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551DB0-426A-398C-9FB1-29BBA1BC9C7E}"/>
              </a:ext>
            </a:extLst>
          </p:cNvPr>
          <p:cNvSpPr txBox="1"/>
          <p:nvPr/>
        </p:nvSpPr>
        <p:spPr>
          <a:xfrm>
            <a:off x="2165288" y="1714049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err="1">
                <a:ea typeface="Calibri"/>
                <a:cs typeface="Calibri"/>
              </a:rPr>
              <a:t>Calculo</a:t>
            </a:r>
            <a:r>
              <a:rPr lang="en-US" dirty="0">
                <a:ea typeface="Calibri"/>
                <a:cs typeface="Calibri"/>
              </a:rPr>
              <a:t> do </a:t>
            </a:r>
            <a:r>
              <a:rPr lang="en-US" dirty="0" err="1">
                <a:ea typeface="Calibri"/>
                <a:cs typeface="Calibri"/>
              </a:rPr>
              <a:t>banceamento</a:t>
            </a:r>
            <a:r>
              <a:rPr lang="en-US" dirty="0">
                <a:ea typeface="Calibri"/>
                <a:cs typeface="Calibri"/>
              </a:rPr>
              <a:t> de um </a:t>
            </a:r>
            <a:r>
              <a:rPr lang="en-US" dirty="0" err="1">
                <a:ea typeface="Calibri"/>
                <a:cs typeface="Calibri"/>
              </a:rPr>
              <a:t>nó</a:t>
            </a:r>
          </a:p>
        </p:txBody>
      </p:sp>
    </p:spTree>
    <p:extLst>
      <p:ext uri="{BB962C8B-B14F-4D97-AF65-F5344CB8AC3E}">
        <p14:creationId xmlns:p14="http://schemas.microsoft.com/office/powerpoint/2010/main" val="223388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98C8B-D5FC-B7C5-B38A-FA803167F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A24A87-CE98-82ED-525C-DF4FE6EDA051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3·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Demonstração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200" b="1" kern="0" spc="2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Código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 (ED II)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32A294-23E4-509C-0D8C-8D3C31A04737}"/>
              </a:ext>
            </a:extLst>
          </p:cNvPr>
          <p:cNvSpPr txBox="1"/>
          <p:nvPr/>
        </p:nvSpPr>
        <p:spPr>
          <a:xfrm>
            <a:off x="548640" y="730355"/>
            <a:ext cx="6705601" cy="80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Adição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</a:rPr>
              <a:t> do Toggle no Modo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Desafio</a:t>
            </a:r>
            <a:endParaRPr lang="en-US" dirty="0" err="1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F23508A-73F3-C4B8-14D3-D3D5292B35FB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0327A1A-CDBC-CA80-FAAD-248E4554293D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09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8B1734-211E-44AF-CB73-214FC4723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02" y="2107005"/>
            <a:ext cx="6696717" cy="3234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6DD424-C4B8-4C23-C9A8-346EC6C5B088}"/>
              </a:ext>
            </a:extLst>
          </p:cNvPr>
          <p:cNvSpPr txBox="1"/>
          <p:nvPr/>
        </p:nvSpPr>
        <p:spPr>
          <a:xfrm>
            <a:off x="8365087" y="2415905"/>
            <a:ext cx="354800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Cria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um checkbox (#challenge)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dentro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de um label, com o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texto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“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desafio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balanceamento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manual”.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Depois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br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quebra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a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linha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e #collapseWarning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identifica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um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parágrafo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que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pode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receber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estilos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específicos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831390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930B46-2A58-1630-4754-6D1D7FA1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28B7BC-AC64-0F09-78BA-7764B371A751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3·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Demonstração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200" b="1" kern="0" spc="2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Código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 (ED II)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48032D-D6DD-3C57-36AB-BF1CD22C38E2}"/>
              </a:ext>
            </a:extLst>
          </p:cNvPr>
          <p:cNvSpPr txBox="1"/>
          <p:nvPr/>
        </p:nvSpPr>
        <p:spPr>
          <a:xfrm>
            <a:off x="548640" y="730355"/>
            <a:ext cx="4907623" cy="985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Indicação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</a:rPr>
              <a:t> Visual e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Alerta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</a:rPr>
              <a:t> de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Colapso</a:t>
            </a:r>
            <a:endParaRPr lang="en-US" dirty="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F7C4E4E-F170-202D-4048-6DC813A1A709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93B354F-2A83-89DF-91E6-4626C4697C3C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ea typeface="Calibri"/>
                <a:cs typeface="Calibri"/>
              </a:rPr>
              <a:t>10</a:t>
            </a:r>
            <a:endParaRPr lang="en-US" sz="1000" dirty="0">
              <a:solidFill>
                <a:srgbClr val="5B6472"/>
              </a:solidFill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CEC7B5-45F3-6E84-0746-289F05468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576" y="500437"/>
            <a:ext cx="3071545" cy="58485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05046A-FE43-3C20-92F9-F16ECABE5553}"/>
              </a:ext>
            </a:extLst>
          </p:cNvPr>
          <p:cNvSpPr txBox="1"/>
          <p:nvPr/>
        </p:nvSpPr>
        <p:spPr>
          <a:xfrm>
            <a:off x="832185" y="2863657"/>
            <a:ext cx="461823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código</a:t>
            </a:r>
            <a:r>
              <a:rPr lang="en-US" dirty="0"/>
              <a:t> CSS </a:t>
            </a:r>
            <a:r>
              <a:rPr lang="en-US" dirty="0" err="1"/>
              <a:t>que</a:t>
            </a:r>
            <a:r>
              <a:rPr lang="en-US" dirty="0"/>
              <a:t> define cores e </a:t>
            </a:r>
            <a:r>
              <a:rPr lang="en-US" dirty="0" err="1"/>
              <a:t>estilos</a:t>
            </a:r>
            <a:r>
              <a:rPr lang="en-US" dirty="0"/>
              <a:t> </a:t>
            </a:r>
            <a:r>
              <a:rPr lang="en-US" dirty="0" err="1"/>
              <a:t>personalizados</a:t>
            </a:r>
            <a:r>
              <a:rPr lang="en-US" dirty="0"/>
              <a:t> para </a:t>
            </a:r>
            <a:r>
              <a:rPr lang="en-US" dirty="0" err="1"/>
              <a:t>textos</a:t>
            </a:r>
            <a:r>
              <a:rPr lang="en-US" dirty="0"/>
              <a:t> e </a:t>
            </a:r>
            <a:r>
              <a:rPr lang="en-US" dirty="0" err="1"/>
              <a:t>elementos</a:t>
            </a:r>
            <a:r>
              <a:rPr lang="en-US" dirty="0"/>
              <a:t> da </a:t>
            </a:r>
            <a:r>
              <a:rPr lang="en-US" dirty="0" err="1"/>
              <a:t>página</a:t>
            </a:r>
            <a:r>
              <a:rPr lang="en-US" dirty="0"/>
              <a:t>. A </a:t>
            </a:r>
            <a:r>
              <a:rPr lang="en-US" dirty="0" err="1"/>
              <a:t>classe</a:t>
            </a:r>
            <a:r>
              <a:rPr lang="en-US" dirty="0"/>
              <a:t> .skew </a:t>
            </a:r>
            <a:r>
              <a:rPr lang="en-US" dirty="0" err="1"/>
              <a:t>aplica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inclinação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texto</a:t>
            </a:r>
            <a:r>
              <a:rPr lang="en-US" dirty="0"/>
              <a:t>, </a:t>
            </a:r>
            <a:r>
              <a:rPr lang="en-US" dirty="0" err="1"/>
              <a:t>enquanto</a:t>
            </a:r>
            <a:r>
              <a:rPr lang="en-US" dirty="0"/>
              <a:t> </a:t>
            </a:r>
            <a:r>
              <a:rPr lang="en-US" dirty="0" err="1"/>
              <a:t>label.challenge</a:t>
            </a:r>
            <a:r>
              <a:rPr lang="en-US" dirty="0"/>
              <a:t>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cor</a:t>
            </a:r>
            <a:r>
              <a:rPr lang="en-US" dirty="0"/>
              <a:t> </a:t>
            </a:r>
            <a:r>
              <a:rPr lang="en-US" dirty="0" err="1"/>
              <a:t>variável</a:t>
            </a:r>
            <a:r>
              <a:rPr lang="en-US" dirty="0"/>
              <a:t>. A </a:t>
            </a:r>
            <a:r>
              <a:rPr lang="en-US" dirty="0" err="1"/>
              <a:t>animação</a:t>
            </a:r>
            <a:r>
              <a:rPr lang="en-US" dirty="0"/>
              <a:t> blink-danger </a:t>
            </a:r>
            <a:r>
              <a:rPr lang="en-US" dirty="0" err="1"/>
              <a:t>faz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g.imbalanced</a:t>
            </a:r>
            <a:r>
              <a:rPr lang="en-US" dirty="0"/>
              <a:t> </a:t>
            </a:r>
            <a:r>
              <a:rPr lang="en-US" dirty="0" err="1"/>
              <a:t>piscar</a:t>
            </a:r>
            <a:r>
              <a:rPr lang="en-US" dirty="0"/>
              <a:t>, </a:t>
            </a:r>
            <a:r>
              <a:rPr lang="en-US" dirty="0" err="1"/>
              <a:t>alternando</a:t>
            </a:r>
            <a:r>
              <a:rPr lang="en-US" dirty="0"/>
              <a:t> a </a:t>
            </a:r>
            <a:r>
              <a:rPr lang="en-US" dirty="0" err="1"/>
              <a:t>opacidade</a:t>
            </a:r>
            <a:endParaRPr lang="en-US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835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C10D8-FEBA-2322-A7E7-5BB355138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FDD419-EE10-4931-ABB1-B23693643386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3·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Demonstração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200" b="1" kern="0" spc="2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Código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 (ED II)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3CDAA3-64AA-0A7D-7830-EB24537CF8BC}"/>
              </a:ext>
            </a:extLst>
          </p:cNvPr>
          <p:cNvSpPr txBox="1"/>
          <p:nvPr/>
        </p:nvSpPr>
        <p:spPr>
          <a:xfrm>
            <a:off x="548640" y="730355"/>
            <a:ext cx="7073757" cy="985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Adição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</a:rPr>
              <a:t> de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Lógica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</a:rPr>
              <a:t> de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Verificação</a:t>
            </a:r>
            <a:endParaRPr lang="en-US" dirty="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9F5E370-CF1D-D4A8-F07C-A83D3B862D3B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E651A63-4143-122C-D98C-2AAC59F1339F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11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57C1A-6589-759F-F162-9D5C68071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687" y="1714607"/>
            <a:ext cx="5660312" cy="44390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47A82C-A03D-12DD-45BF-43198F4AC6F2}"/>
              </a:ext>
            </a:extLst>
          </p:cNvPr>
          <p:cNvSpPr txBox="1"/>
          <p:nvPr/>
        </p:nvSpPr>
        <p:spPr>
          <a:xfrm>
            <a:off x="7967334" y="3194185"/>
            <a:ext cx="351376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Toda a </a:t>
            </a:r>
            <a:r>
              <a:rPr lang="en-US" dirty="0" err="1">
                <a:ea typeface="+mn-lt"/>
                <a:cs typeface="+mn-lt"/>
              </a:rPr>
              <a:t>vez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árvore</a:t>
            </a:r>
            <a:r>
              <a:rPr lang="en-US" dirty="0">
                <a:ea typeface="+mn-lt"/>
                <a:cs typeface="+mn-lt"/>
              </a:rPr>
              <a:t> é </a:t>
            </a:r>
            <a:r>
              <a:rPr lang="en-US" dirty="0" err="1">
                <a:ea typeface="+mn-lt"/>
                <a:cs typeface="+mn-lt"/>
              </a:rPr>
              <a:t>redesenhada</a:t>
            </a:r>
            <a:r>
              <a:rPr lang="en-US" dirty="0">
                <a:ea typeface="+mn-lt"/>
                <a:cs typeface="+mn-lt"/>
              </a:rPr>
              <a:t> (Insert, Delete, Rotate...) o </a:t>
            </a:r>
            <a:r>
              <a:rPr lang="en-US" dirty="0" err="1">
                <a:ea typeface="+mn-lt"/>
                <a:cs typeface="+mn-lt"/>
              </a:rPr>
              <a:t>indicador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atualiza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sozinho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sem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precisar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duplicar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lógica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comando</a:t>
            </a:r>
            <a:endParaRPr lang="en-US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3822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BAD26-596D-9689-6219-89384C68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6B4F56-3C28-C774-9C3B-CAEA17B3D4F0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3·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Demonstração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 do </a:t>
            </a:r>
            <a:r>
              <a:rPr lang="en-US" sz="1200" b="1" kern="0" spc="2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Código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 (ED II)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901B6C-C295-A26B-2E50-585542594274}"/>
              </a:ext>
            </a:extLst>
          </p:cNvPr>
          <p:cNvSpPr txBox="1"/>
          <p:nvPr/>
        </p:nvSpPr>
        <p:spPr>
          <a:xfrm>
            <a:off x="548640" y="730355"/>
            <a:ext cx="6226140" cy="985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</a:rPr>
              <a:t>Trava e a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Condição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</a:rPr>
              <a:t> de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</a:rPr>
              <a:t>Derrota</a:t>
            </a:r>
            <a:endParaRPr lang="en-US" sz="3200" b="1" dirty="0">
              <a:solidFill>
                <a:srgbClr val="16233F"/>
              </a:solidFill>
              <a:latin typeface="Cambria"/>
              <a:ea typeface="Cambria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76F7A01-C214-CF27-4937-FC3C8BB1F862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EF9B4A5-E0AC-C0ED-4368-C56D800385C6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12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322FD-3FB4-FB65-7B87-4D968F4F2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33" y="1863528"/>
            <a:ext cx="6223571" cy="41840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438F8B-8FA6-29AE-A5D3-D081BD4A88A7}"/>
              </a:ext>
            </a:extLst>
          </p:cNvPr>
          <p:cNvSpPr txBox="1"/>
          <p:nvPr/>
        </p:nvSpPr>
        <p:spPr>
          <a:xfrm>
            <a:off x="7350990" y="2930566"/>
            <a:ext cx="484083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Define o modo </a:t>
            </a:r>
            <a:r>
              <a:rPr lang="en-US" dirty="0" err="1">
                <a:ea typeface="+mn-lt"/>
                <a:cs typeface="+mn-lt"/>
              </a:rPr>
              <a:t>desafio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conta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turnos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perigo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mostrando</a:t>
            </a:r>
            <a:r>
              <a:rPr lang="en-US" dirty="0">
                <a:ea typeface="+mn-lt"/>
                <a:cs typeface="+mn-lt"/>
              </a:rPr>
              <a:t> um aviso </a:t>
            </a:r>
            <a:r>
              <a:rPr lang="en-US" dirty="0" err="1">
                <a:ea typeface="+mn-lt"/>
                <a:cs typeface="+mn-lt"/>
              </a:rPr>
              <a:t>quando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necessário</a:t>
            </a:r>
            <a:r>
              <a:rPr lang="en-US" dirty="0">
                <a:ea typeface="+mn-lt"/>
                <a:cs typeface="+mn-lt"/>
              </a:rPr>
              <a:t>. Se o </a:t>
            </a:r>
            <a:r>
              <a:rPr lang="en-US" dirty="0" err="1">
                <a:ea typeface="+mn-lt"/>
                <a:cs typeface="+mn-lt"/>
              </a:rPr>
              <a:t>perigo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atingir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limite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ativa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estado</a:t>
            </a:r>
            <a:r>
              <a:rPr lang="en-US" dirty="0">
                <a:ea typeface="+mn-lt"/>
                <a:cs typeface="+mn-lt"/>
              </a:rPr>
              <a:t> “collapsed”, </a:t>
            </a:r>
            <a:r>
              <a:rPr lang="en-US" dirty="0" err="1">
                <a:ea typeface="+mn-lt"/>
                <a:cs typeface="+mn-lt"/>
              </a:rPr>
              <a:t>desabilita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comando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alerta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jogador</a:t>
            </a:r>
            <a:r>
              <a:rPr lang="en-US" dirty="0">
                <a:ea typeface="+mn-lt"/>
                <a:cs typeface="+mn-lt"/>
              </a:rPr>
              <a:t>. Ao </a:t>
            </a:r>
            <a:r>
              <a:rPr lang="en-US" dirty="0" err="1">
                <a:ea typeface="+mn-lt"/>
                <a:cs typeface="+mn-lt"/>
              </a:rPr>
              <a:t>marcar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desmarcar</a:t>
            </a:r>
            <a:r>
              <a:rPr lang="en-US" dirty="0">
                <a:ea typeface="+mn-lt"/>
                <a:cs typeface="+mn-lt"/>
              </a:rPr>
              <a:t> o checkbox, o </a:t>
            </a:r>
            <a:r>
              <a:rPr lang="en-US" dirty="0" err="1">
                <a:ea typeface="+mn-lt"/>
                <a:cs typeface="+mn-lt"/>
              </a:rPr>
              <a:t>código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ativa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desativa</a:t>
            </a:r>
            <a:r>
              <a:rPr lang="en-US" dirty="0">
                <a:ea typeface="+mn-lt"/>
                <a:cs typeface="+mn-lt"/>
              </a:rPr>
              <a:t> o </a:t>
            </a:r>
            <a:r>
              <a:rPr lang="en-US" dirty="0" err="1">
                <a:ea typeface="+mn-lt"/>
                <a:cs typeface="+mn-lt"/>
              </a:rPr>
              <a:t>desafio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reinicia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contagem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atualiza</a:t>
            </a:r>
            <a:r>
              <a:rPr lang="en-US" dirty="0">
                <a:ea typeface="+mn-lt"/>
                <a:cs typeface="+mn-lt"/>
              </a:rPr>
              <a:t> o aviso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293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PROPRIEDADES ALGORÍTMICAS EM MECÂNICA 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algoritmo à mecânica de jogo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cor é decorativa: cada propriedade do FB controla diretamente uma regra observável do jogo.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789920" cy="45720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DE ED II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NO JOGO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965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ATIVADA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0789920" cy="566928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85800" y="24597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≤ 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(nó balanceado)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4597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alteração visual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459736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liberada normalmente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" y="302666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= 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(alerta preventivo)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02666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em amarelo/laranja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02666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ao jogador, sem bloqueio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57016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48640" y="3557016"/>
            <a:ext cx="10789920" cy="566928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85800" y="35935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&gt; 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(propriedade violada)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5935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pisca em vermelho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593592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“insert” é bloqueado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23944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85800" y="41605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simples (LL / RR)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1605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execução de r / l resolve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4160520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alerta é removido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690872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48640" y="4690872"/>
            <a:ext cx="10789920" cy="566928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85800" y="472744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dupla (LR / RL)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472744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rotações, ordem correta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472744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errada mantém o alerta ativo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85800" y="529437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Desbalanceamento ignorado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 turnos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529437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turnos em risco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5294376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Colapso: condição de derrota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824728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C61DC993-E5B5-5308-B0BA-97B6F8608F6D}"/>
              </a:ext>
            </a:extLst>
          </p:cNvPr>
          <p:cNvGrpSpPr/>
          <p:nvPr/>
        </p:nvGrpSpPr>
        <p:grpSpPr>
          <a:xfrm>
            <a:off x="548640" y="2011680"/>
            <a:ext cx="2121408" cy="3840480"/>
            <a:chOff x="548640" y="2011680"/>
            <a:chExt cx="2121408" cy="3840480"/>
          </a:xfrm>
        </p:grpSpPr>
        <p:sp>
          <p:nvSpPr>
            <p:cNvPr id="4" name="Shape 2"/>
            <p:cNvSpPr/>
            <p:nvPr/>
          </p:nvSpPr>
          <p:spPr>
            <a:xfrm>
              <a:off x="548640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5" name="Text 3"/>
            <p:cNvSpPr txBox="1"/>
            <p:nvPr/>
          </p:nvSpPr>
          <p:spPr>
            <a:xfrm>
              <a:off x="731520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1</a:t>
              </a:r>
              <a:endParaRPr lang="en-US" sz="105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731520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RR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520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731520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731520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10 → i 20 → i 30</a:t>
              </a:r>
              <a:endParaRPr lang="en-US" sz="11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731520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731520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10</a:t>
              </a:r>
              <a:endParaRPr lang="en-US" sz="1050" dirty="0"/>
            </a:p>
          </p:txBody>
        </p: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D9F3C390-1D3F-09DA-5064-89EE208A4526}"/>
              </a:ext>
            </a:extLst>
          </p:cNvPr>
          <p:cNvGrpSpPr/>
          <p:nvPr/>
        </p:nvGrpSpPr>
        <p:grpSpPr>
          <a:xfrm>
            <a:off x="2724912" y="2011680"/>
            <a:ext cx="2121408" cy="3840480"/>
            <a:chOff x="2724912" y="2011680"/>
            <a:chExt cx="2121408" cy="3840480"/>
          </a:xfrm>
        </p:grpSpPr>
        <p:sp>
          <p:nvSpPr>
            <p:cNvPr id="12" name="Shape 10"/>
            <p:cNvSpPr/>
            <p:nvPr/>
          </p:nvSpPr>
          <p:spPr>
            <a:xfrm>
              <a:off x="2724912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13" name="Text 11"/>
            <p:cNvSpPr txBox="1"/>
            <p:nvPr/>
          </p:nvSpPr>
          <p:spPr>
            <a:xfrm>
              <a:off x="2907792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2</a:t>
              </a:r>
              <a:endParaRPr lang="en-US" sz="105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2907792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LL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907792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16" name="Text 14"/>
            <p:cNvSpPr txBox="1"/>
            <p:nvPr/>
          </p:nvSpPr>
          <p:spPr>
            <a:xfrm>
              <a:off x="2907792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2907792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20 → i 10</a:t>
              </a:r>
              <a:endParaRPr lang="en-US" sz="11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2907792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2907792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</a:t>
              </a:r>
              <a:endParaRPr lang="en-US" sz="1050" dirty="0"/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77FF475A-4E70-8704-A154-BC01829372F4}"/>
              </a:ext>
            </a:extLst>
          </p:cNvPr>
          <p:cNvGrpSpPr/>
          <p:nvPr/>
        </p:nvGrpSpPr>
        <p:grpSpPr>
          <a:xfrm>
            <a:off x="4901184" y="2011680"/>
            <a:ext cx="2121408" cy="3840480"/>
            <a:chOff x="4901184" y="2011680"/>
            <a:chExt cx="2121408" cy="3840480"/>
          </a:xfrm>
        </p:grpSpPr>
        <p:sp>
          <p:nvSpPr>
            <p:cNvPr id="20" name="Shape 18"/>
            <p:cNvSpPr/>
            <p:nvPr/>
          </p:nvSpPr>
          <p:spPr>
            <a:xfrm>
              <a:off x="4901184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1" name="Text 19"/>
            <p:cNvSpPr txBox="1"/>
            <p:nvPr/>
          </p:nvSpPr>
          <p:spPr>
            <a:xfrm>
              <a:off x="5084064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3</a:t>
              </a:r>
              <a:endParaRPr lang="en-US" sz="105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5084064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LR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084064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4" name="Text 22"/>
            <p:cNvSpPr txBox="1"/>
            <p:nvPr/>
          </p:nvSpPr>
          <p:spPr>
            <a:xfrm>
              <a:off x="5084064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084064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10 → i 20</a:t>
              </a:r>
              <a:endParaRPr lang="en-US" sz="1100" dirty="0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5084064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5084064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10  depois  r 30</a:t>
              </a:r>
              <a:endParaRPr lang="en-US" sz="1050" dirty="0"/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0E526C54-977C-DE2F-D634-02C86B77DEE7}"/>
              </a:ext>
            </a:extLst>
          </p:cNvPr>
          <p:cNvGrpSpPr/>
          <p:nvPr/>
        </p:nvGrpSpPr>
        <p:grpSpPr>
          <a:xfrm>
            <a:off x="7077456" y="2011680"/>
            <a:ext cx="2121408" cy="3840480"/>
            <a:chOff x="7077456" y="2011680"/>
            <a:chExt cx="2121408" cy="3840480"/>
          </a:xfrm>
        </p:grpSpPr>
        <p:sp>
          <p:nvSpPr>
            <p:cNvPr id="28" name="Shape 26"/>
            <p:cNvSpPr/>
            <p:nvPr/>
          </p:nvSpPr>
          <p:spPr>
            <a:xfrm>
              <a:off x="7077456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9" name="Text 27"/>
            <p:cNvSpPr txBox="1"/>
            <p:nvPr/>
          </p:nvSpPr>
          <p:spPr>
            <a:xfrm>
              <a:off x="7260336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4</a:t>
              </a:r>
              <a:endParaRPr lang="en-US" sz="1050" dirty="0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7260336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RL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260336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32" name="Text 30"/>
            <p:cNvSpPr txBox="1"/>
            <p:nvPr/>
          </p:nvSpPr>
          <p:spPr>
            <a:xfrm>
              <a:off x="7260336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7260336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10 → i 30 → i 20</a:t>
              </a:r>
              <a:endParaRPr lang="en-US" sz="1100" dirty="0"/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7260336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7260336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  depois  l 10</a:t>
              </a:r>
              <a:endParaRPr lang="en-US" sz="1050" dirty="0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5AE17E5C-0AEE-37DD-02A4-87860294B158}"/>
              </a:ext>
            </a:extLst>
          </p:cNvPr>
          <p:cNvGrpSpPr/>
          <p:nvPr/>
        </p:nvGrpSpPr>
        <p:grpSpPr>
          <a:xfrm>
            <a:off x="9253728" y="2011680"/>
            <a:ext cx="2121408" cy="3840480"/>
            <a:chOff x="9253728" y="2011680"/>
            <a:chExt cx="2121408" cy="3840480"/>
          </a:xfrm>
        </p:grpSpPr>
        <p:sp>
          <p:nvSpPr>
            <p:cNvPr id="36" name="Shape 34"/>
            <p:cNvSpPr/>
            <p:nvPr/>
          </p:nvSpPr>
          <p:spPr>
            <a:xfrm>
              <a:off x="9253728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C62828"/>
            </a:solidFill>
            <a:ln w="12700">
              <a:solidFill>
                <a:srgbClr val="C62828"/>
              </a:solidFill>
              <a:prstDash val="solid"/>
            </a:ln>
          </p:spPr>
        </p:sp>
        <p:sp>
          <p:nvSpPr>
            <p:cNvPr id="37" name="Text 35"/>
            <p:cNvSpPr txBox="1"/>
            <p:nvPr/>
          </p:nvSpPr>
          <p:spPr>
            <a:xfrm>
              <a:off x="9436608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5</a:t>
              </a:r>
              <a:endParaRPr lang="en-US" sz="1050" dirty="0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9436608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Pior caso O(n)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9436608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E57373"/>
              </a:solidFill>
              <a:prstDash val="solid"/>
            </a:ln>
          </p:spPr>
        </p:sp>
        <p:sp>
          <p:nvSpPr>
            <p:cNvPr id="40" name="Text 38"/>
            <p:cNvSpPr txBox="1"/>
            <p:nvPr/>
          </p:nvSpPr>
          <p:spPr>
            <a:xfrm>
              <a:off x="9436608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9436608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 → i 2 → i 3 → i 4 → i 5</a:t>
              </a:r>
              <a:endParaRPr lang="en-US" sz="1100" dirty="0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9436608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43" name="Text 41"/>
            <p:cNvSpPr txBox="1"/>
            <p:nvPr/>
          </p:nvSpPr>
          <p:spPr>
            <a:xfrm>
              <a:off x="9436608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  depois  l 3</a:t>
              </a:r>
              <a:endParaRPr lang="en-US" sz="1050" dirty="0"/>
            </a:p>
          </p:txBody>
        </p:sp>
      </p:grpSp>
      <p:sp>
        <p:nvSpPr>
          <p:cNvPr id="44" name="Text 42"/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ea typeface="Calibri"/>
                <a:cs typeface="Calibri"/>
              </a:rPr>
              <a:t>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CCA4A-7DF9-9177-D80E-69DA47A0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686B90-4B7A-FA04-921F-927AA2FC4401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56C59E-CAEE-23E7-5EBD-BD3D12390FE5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5E18F7-C807-40DF-F40F-71A52B96EF77}"/>
              </a:ext>
            </a:extLst>
          </p:cNvPr>
          <p:cNvSpPr/>
          <p:nvPr/>
        </p:nvSpPr>
        <p:spPr>
          <a:xfrm>
            <a:off x="548640" y="2011680"/>
            <a:ext cx="2121408" cy="3840480"/>
          </a:xfrm>
          <a:prstGeom prst="roundRect">
            <a:avLst>
              <a:gd name="adj" fmla="val 4310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D91001-55BD-A0A7-BD90-3884B14B0DC9}"/>
              </a:ext>
            </a:extLst>
          </p:cNvPr>
          <p:cNvSpPr txBox="1"/>
          <p:nvPr/>
        </p:nvSpPr>
        <p:spPr>
          <a:xfrm>
            <a:off x="731520" y="22402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</a:t>
            </a:r>
            <a:endParaRPr lang="en-US" sz="10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D5A8AF-F0D3-F26A-EA76-B6AC75E10286}"/>
              </a:ext>
            </a:extLst>
          </p:cNvPr>
          <p:cNvSpPr txBox="1"/>
          <p:nvPr/>
        </p:nvSpPr>
        <p:spPr>
          <a:xfrm>
            <a:off x="731520" y="254203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RR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A5C9493-E2FB-8D2D-8F26-DD22C5BD1E41}"/>
              </a:ext>
            </a:extLst>
          </p:cNvPr>
          <p:cNvSpPr/>
          <p:nvPr/>
        </p:nvSpPr>
        <p:spPr>
          <a:xfrm>
            <a:off x="731520" y="3200400"/>
            <a:ext cx="1755648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4CAE1F-83F7-8FE3-850A-001059197D67}"/>
              </a:ext>
            </a:extLst>
          </p:cNvPr>
          <p:cNvSpPr txBox="1"/>
          <p:nvPr/>
        </p:nvSpPr>
        <p:spPr>
          <a:xfrm>
            <a:off x="731520" y="333756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CDD6C6-AC08-7717-3F93-9A46CEEB4400}"/>
              </a:ext>
            </a:extLst>
          </p:cNvPr>
          <p:cNvSpPr txBox="1"/>
          <p:nvPr/>
        </p:nvSpPr>
        <p:spPr>
          <a:xfrm>
            <a:off x="731520" y="356616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10 → i 20 → i 30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985F8C-E253-AE10-56AE-3E00EB67754E}"/>
              </a:ext>
            </a:extLst>
          </p:cNvPr>
          <p:cNvSpPr txBox="1"/>
          <p:nvPr/>
        </p:nvSpPr>
        <p:spPr>
          <a:xfrm>
            <a:off x="731520" y="489204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EF8BCC4-4A83-39C7-5C32-E61E47EE7DD9}"/>
              </a:ext>
            </a:extLst>
          </p:cNvPr>
          <p:cNvSpPr txBox="1"/>
          <p:nvPr/>
        </p:nvSpPr>
        <p:spPr>
          <a:xfrm>
            <a:off x="731520" y="5120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 com  l 10</a:t>
            </a:r>
            <a:endParaRPr lang="en-US" sz="10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3B7042D-8CCF-7C72-A317-C33CADF85A89}"/>
              </a:ext>
            </a:extLst>
          </p:cNvPr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ECA24BB-FB31-2176-925B-6882ECA51BC4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73F91AFD-998D-D9D2-E3F0-4FE959ACEFD0}"/>
              </a:ext>
            </a:extLst>
          </p:cNvPr>
          <p:cNvSpPr txBox="1"/>
          <p:nvPr/>
        </p:nvSpPr>
        <p:spPr>
          <a:xfrm>
            <a:off x="11490097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15</a:t>
            </a:r>
            <a:endParaRPr lang="en-US"/>
          </a:p>
        </p:txBody>
      </p:sp>
      <p:pic>
        <p:nvPicPr>
          <p:cNvPr id="47" name="Imagem 46">
            <a:extLst>
              <a:ext uri="{FF2B5EF4-FFF2-40B4-BE49-F238E27FC236}">
                <a16:creationId xmlns:a16="http://schemas.microsoft.com/office/drawing/2014/main" id="{B92920CA-A2E6-7371-DA11-7C0C719C5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774" y="2528851"/>
            <a:ext cx="3400029" cy="2877671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133B5188-046E-9CE9-5755-4AC321301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848" y="2518241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206702B6-39EE-E893-B958-5019ABEB783C}"/>
              </a:ext>
            </a:extLst>
          </p:cNvPr>
          <p:cNvSpPr txBox="1"/>
          <p:nvPr/>
        </p:nvSpPr>
        <p:spPr>
          <a:xfrm>
            <a:off x="3617833" y="1865923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Estado Inicial (Desequilíbrio RR)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7868100B-D838-4A3C-B55B-C6C213E12EEE}"/>
              </a:ext>
            </a:extLst>
          </p:cNvPr>
          <p:cNvSpPr txBox="1"/>
          <p:nvPr/>
        </p:nvSpPr>
        <p:spPr>
          <a:xfrm>
            <a:off x="8260631" y="2006140"/>
            <a:ext cx="25986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Resultado Equilibrado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9268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A64BE3-19FA-A7C5-5767-CC4BEF9C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40E2D1-2BAC-FDBF-B365-30A1744CE151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6FA6B0-2859-D227-793E-8CB111C47EF6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E819ECD-FBF7-7DA3-FA2C-1D3CB76567F0}"/>
              </a:ext>
            </a:extLst>
          </p:cNvPr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C690811-339A-1226-AC8B-293BD25FD713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E89ACEA-F875-5FFC-E59D-4496F26BABED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16</a:t>
            </a:r>
            <a:endParaRPr lang="en-US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4261E7C5-D542-CF95-2A00-1784E7C0E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848" y="2518241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D53D404E-5BA2-A296-7C20-51765DEE9B28}"/>
              </a:ext>
            </a:extLst>
          </p:cNvPr>
          <p:cNvSpPr txBox="1"/>
          <p:nvPr/>
        </p:nvSpPr>
        <p:spPr>
          <a:xfrm>
            <a:off x="3617833" y="1865923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Estado Inicial (Desequilíbrio LL)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ACF0E503-7A96-4C7C-C1AC-2F0E7B2898C8}"/>
              </a:ext>
            </a:extLst>
          </p:cNvPr>
          <p:cNvSpPr txBox="1"/>
          <p:nvPr/>
        </p:nvSpPr>
        <p:spPr>
          <a:xfrm>
            <a:off x="8260631" y="2006140"/>
            <a:ext cx="25986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Resultado Equilibrado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0F34B35-75FE-1145-1960-F2F903F36D7C}"/>
              </a:ext>
            </a:extLst>
          </p:cNvPr>
          <p:cNvGrpSpPr/>
          <p:nvPr/>
        </p:nvGrpSpPr>
        <p:grpSpPr>
          <a:xfrm>
            <a:off x="546374" y="2011680"/>
            <a:ext cx="2121408" cy="3840480"/>
            <a:chOff x="2724912" y="2011680"/>
            <a:chExt cx="2121408" cy="3840480"/>
          </a:xfrm>
        </p:grpSpPr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991F9FC3-6DE0-6A22-3795-3B133C6469C8}"/>
                </a:ext>
              </a:extLst>
            </p:cNvPr>
            <p:cNvSpPr/>
            <p:nvPr/>
          </p:nvSpPr>
          <p:spPr>
            <a:xfrm>
              <a:off x="2724912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920B3F2C-0613-04B9-42AF-BF4723AF4ED1}"/>
                </a:ext>
              </a:extLst>
            </p:cNvPr>
            <p:cNvSpPr txBox="1"/>
            <p:nvPr/>
          </p:nvSpPr>
          <p:spPr>
            <a:xfrm>
              <a:off x="2907792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2</a:t>
              </a:r>
              <a:endParaRPr lang="en-US" sz="1050" dirty="0"/>
            </a:p>
          </p:txBody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BB3035D6-B274-22B2-E6F9-69E4DFF4AE4C}"/>
                </a:ext>
              </a:extLst>
            </p:cNvPr>
            <p:cNvSpPr txBox="1"/>
            <p:nvPr/>
          </p:nvSpPr>
          <p:spPr>
            <a:xfrm>
              <a:off x="2907792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LL</a:t>
              </a:r>
              <a:endParaRPr lang="en-US" sz="1600" dirty="0"/>
            </a:p>
          </p:txBody>
        </p:sp>
        <p:sp>
          <p:nvSpPr>
            <p:cNvPr id="27" name="Shape 13">
              <a:extLst>
                <a:ext uri="{FF2B5EF4-FFF2-40B4-BE49-F238E27FC236}">
                  <a16:creationId xmlns:a16="http://schemas.microsoft.com/office/drawing/2014/main" id="{F545650F-0220-1741-6F4D-59F28D87EAC6}"/>
                </a:ext>
              </a:extLst>
            </p:cNvPr>
            <p:cNvSpPr/>
            <p:nvPr/>
          </p:nvSpPr>
          <p:spPr>
            <a:xfrm>
              <a:off x="2907792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C2B7FEC4-5A4A-4149-A55C-95760D9D168E}"/>
                </a:ext>
              </a:extLst>
            </p:cNvPr>
            <p:cNvSpPr txBox="1"/>
            <p:nvPr/>
          </p:nvSpPr>
          <p:spPr>
            <a:xfrm>
              <a:off x="2907792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29" name="Text 15">
              <a:extLst>
                <a:ext uri="{FF2B5EF4-FFF2-40B4-BE49-F238E27FC236}">
                  <a16:creationId xmlns:a16="http://schemas.microsoft.com/office/drawing/2014/main" id="{73E92AF2-2D5E-AA94-21C1-126AA71E18C7}"/>
                </a:ext>
              </a:extLst>
            </p:cNvPr>
            <p:cNvSpPr txBox="1"/>
            <p:nvPr/>
          </p:nvSpPr>
          <p:spPr>
            <a:xfrm>
              <a:off x="2907792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20 → i 10</a:t>
              </a:r>
              <a:endParaRPr lang="en-US" sz="1100" dirty="0"/>
            </a:p>
          </p:txBody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4E04B50C-B230-8987-1AD0-9DE0A254DFB4}"/>
                </a:ext>
              </a:extLst>
            </p:cNvPr>
            <p:cNvSpPr txBox="1"/>
            <p:nvPr/>
          </p:nvSpPr>
          <p:spPr>
            <a:xfrm>
              <a:off x="2907792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31" name="Text 17">
              <a:extLst>
                <a:ext uri="{FF2B5EF4-FFF2-40B4-BE49-F238E27FC236}">
                  <a16:creationId xmlns:a16="http://schemas.microsoft.com/office/drawing/2014/main" id="{54D7B4EC-34A2-E7FC-FD53-B1AD464BF036}"/>
                </a:ext>
              </a:extLst>
            </p:cNvPr>
            <p:cNvSpPr txBox="1"/>
            <p:nvPr/>
          </p:nvSpPr>
          <p:spPr>
            <a:xfrm>
              <a:off x="2907792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</a:t>
              </a:r>
              <a:endParaRPr lang="en-US" sz="1050" dirty="0"/>
            </a:p>
          </p:txBody>
        </p:sp>
      </p:grpSp>
      <p:pic>
        <p:nvPicPr>
          <p:cNvPr id="34" name="Imagem 33" descr="Mapa&#10;&#10;O conteúdo gerado por IA pode estar incorreto.">
            <a:extLst>
              <a:ext uri="{FF2B5EF4-FFF2-40B4-BE49-F238E27FC236}">
                <a16:creationId xmlns:a16="http://schemas.microsoft.com/office/drawing/2014/main" id="{02290C9F-8D21-B1E8-44EE-6E470D792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980" y="2520461"/>
            <a:ext cx="3397040" cy="288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C456B-7D80-0C55-1403-E8B58F86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020109-4A85-EC84-FD02-0CDD4A365156}"/>
              </a:ext>
            </a:extLst>
          </p:cNvPr>
          <p:cNvSpPr txBox="1"/>
          <p:nvPr/>
        </p:nvSpPr>
        <p:spPr>
          <a:xfrm>
            <a:off x="548640" y="456303"/>
            <a:ext cx="4778189" cy="275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8A0F28-F418-644F-19DD-B7E389D57FE7}"/>
              </a:ext>
            </a:extLst>
          </p:cNvPr>
          <p:cNvSpPr txBox="1"/>
          <p:nvPr/>
        </p:nvSpPr>
        <p:spPr>
          <a:xfrm>
            <a:off x="548640" y="731161"/>
            <a:ext cx="5307106" cy="80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EBB52AF-5134-0812-BE9F-F0F645AB88E2}"/>
              </a:ext>
            </a:extLst>
          </p:cNvPr>
          <p:cNvSpPr txBox="1"/>
          <p:nvPr/>
        </p:nvSpPr>
        <p:spPr>
          <a:xfrm>
            <a:off x="548640" y="6035040"/>
            <a:ext cx="429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0101EDD-195A-9DB3-2C6D-CDD26249FB40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3AE96A1-DD1D-C5A2-C829-9C9059C82840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17</a:t>
            </a:r>
            <a:endParaRPr lang="en-US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9FBC39D6-556C-3851-3883-008704686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601" y="3925700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BAFD768F-F8C1-E90A-7733-3A0EF6C516D5}"/>
              </a:ext>
            </a:extLst>
          </p:cNvPr>
          <p:cNvSpPr txBox="1"/>
          <p:nvPr/>
        </p:nvSpPr>
        <p:spPr>
          <a:xfrm>
            <a:off x="3617833" y="1865923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>
                <a:ea typeface="+mn-lt"/>
                <a:cs typeface="+mn-lt"/>
              </a:rPr>
              <a:t>O Estado Inicial (Desequilíbrio LR)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CE71FAFD-7C60-AB89-469D-39AFDF2B1C7D}"/>
              </a:ext>
            </a:extLst>
          </p:cNvPr>
          <p:cNvSpPr txBox="1"/>
          <p:nvPr/>
        </p:nvSpPr>
        <p:spPr>
          <a:xfrm>
            <a:off x="7319338" y="3557034"/>
            <a:ext cx="46156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>
                <a:ea typeface="+mn-lt"/>
                <a:cs typeface="+mn-lt"/>
              </a:rPr>
              <a:t>A Segunda Rotação (O Resultado Equilibrado)</a:t>
            </a:r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86EFC5D-E3BE-9F93-7D6A-846FB5E03688}"/>
              </a:ext>
            </a:extLst>
          </p:cNvPr>
          <p:cNvGrpSpPr/>
          <p:nvPr/>
        </p:nvGrpSpPr>
        <p:grpSpPr>
          <a:xfrm>
            <a:off x="544107" y="2001911"/>
            <a:ext cx="2121408" cy="3840480"/>
            <a:chOff x="4901184" y="2011680"/>
            <a:chExt cx="2121408" cy="3840480"/>
          </a:xfrm>
        </p:grpSpPr>
        <p:sp>
          <p:nvSpPr>
            <p:cNvPr id="5" name="Shape 18">
              <a:extLst>
                <a:ext uri="{FF2B5EF4-FFF2-40B4-BE49-F238E27FC236}">
                  <a16:creationId xmlns:a16="http://schemas.microsoft.com/office/drawing/2014/main" id="{A54285FC-9B72-575F-A82D-C032540FB104}"/>
                </a:ext>
              </a:extLst>
            </p:cNvPr>
            <p:cNvSpPr/>
            <p:nvPr/>
          </p:nvSpPr>
          <p:spPr>
            <a:xfrm>
              <a:off x="4901184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6" name="Text 19">
              <a:extLst>
                <a:ext uri="{FF2B5EF4-FFF2-40B4-BE49-F238E27FC236}">
                  <a16:creationId xmlns:a16="http://schemas.microsoft.com/office/drawing/2014/main" id="{A66890F4-E5E8-0382-89CE-D3EA24EB5BD5}"/>
                </a:ext>
              </a:extLst>
            </p:cNvPr>
            <p:cNvSpPr txBox="1"/>
            <p:nvPr/>
          </p:nvSpPr>
          <p:spPr>
            <a:xfrm>
              <a:off x="5084064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3</a:t>
              </a:r>
              <a:endParaRPr lang="en-US" sz="1050" dirty="0"/>
            </a:p>
          </p:txBody>
        </p:sp>
        <p:sp>
          <p:nvSpPr>
            <p:cNvPr id="7" name="Text 20">
              <a:extLst>
                <a:ext uri="{FF2B5EF4-FFF2-40B4-BE49-F238E27FC236}">
                  <a16:creationId xmlns:a16="http://schemas.microsoft.com/office/drawing/2014/main" id="{70D8E677-1BC4-ABDF-1A6C-926C14845040}"/>
                </a:ext>
              </a:extLst>
            </p:cNvPr>
            <p:cNvSpPr txBox="1"/>
            <p:nvPr/>
          </p:nvSpPr>
          <p:spPr>
            <a:xfrm>
              <a:off x="5084064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LR</a:t>
              </a:r>
              <a:endParaRPr lang="en-US" sz="1600" dirty="0"/>
            </a:p>
          </p:txBody>
        </p:sp>
        <p:sp>
          <p:nvSpPr>
            <p:cNvPr id="8" name="Shape 21">
              <a:extLst>
                <a:ext uri="{FF2B5EF4-FFF2-40B4-BE49-F238E27FC236}">
                  <a16:creationId xmlns:a16="http://schemas.microsoft.com/office/drawing/2014/main" id="{74DFA8FC-5F20-62E7-C551-88D5D303C88B}"/>
                </a:ext>
              </a:extLst>
            </p:cNvPr>
            <p:cNvSpPr/>
            <p:nvPr/>
          </p:nvSpPr>
          <p:spPr>
            <a:xfrm>
              <a:off x="5084064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9" name="Text 22">
              <a:extLst>
                <a:ext uri="{FF2B5EF4-FFF2-40B4-BE49-F238E27FC236}">
                  <a16:creationId xmlns:a16="http://schemas.microsoft.com/office/drawing/2014/main" id="{2DF14CAA-5B7D-0CB3-CC43-9B6409069CC1}"/>
                </a:ext>
              </a:extLst>
            </p:cNvPr>
            <p:cNvSpPr txBox="1"/>
            <p:nvPr/>
          </p:nvSpPr>
          <p:spPr>
            <a:xfrm>
              <a:off x="5084064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10" name="Text 23">
              <a:extLst>
                <a:ext uri="{FF2B5EF4-FFF2-40B4-BE49-F238E27FC236}">
                  <a16:creationId xmlns:a16="http://schemas.microsoft.com/office/drawing/2014/main" id="{4D7552FC-2C88-6928-8F4B-9329904DEE67}"/>
                </a:ext>
              </a:extLst>
            </p:cNvPr>
            <p:cNvSpPr txBox="1"/>
            <p:nvPr/>
          </p:nvSpPr>
          <p:spPr>
            <a:xfrm>
              <a:off x="5084064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10 → i 20</a:t>
              </a:r>
              <a:endParaRPr lang="en-US" sz="1100" dirty="0"/>
            </a:p>
          </p:txBody>
        </p:sp>
        <p:sp>
          <p:nvSpPr>
            <p:cNvPr id="11" name="Text 24">
              <a:extLst>
                <a:ext uri="{FF2B5EF4-FFF2-40B4-BE49-F238E27FC236}">
                  <a16:creationId xmlns:a16="http://schemas.microsoft.com/office/drawing/2014/main" id="{E527292D-CD95-7449-CE2A-129949AD483D}"/>
                </a:ext>
              </a:extLst>
            </p:cNvPr>
            <p:cNvSpPr txBox="1"/>
            <p:nvPr/>
          </p:nvSpPr>
          <p:spPr>
            <a:xfrm>
              <a:off x="5084064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2" name="Text 25">
              <a:extLst>
                <a:ext uri="{FF2B5EF4-FFF2-40B4-BE49-F238E27FC236}">
                  <a16:creationId xmlns:a16="http://schemas.microsoft.com/office/drawing/2014/main" id="{1FDA6A49-2F40-2343-0B9F-FA7552542F98}"/>
                </a:ext>
              </a:extLst>
            </p:cNvPr>
            <p:cNvSpPr txBox="1"/>
            <p:nvPr/>
          </p:nvSpPr>
          <p:spPr>
            <a:xfrm>
              <a:off x="5084064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10  depois  r 30</a:t>
              </a:r>
              <a:endParaRPr lang="en-US" sz="1050" dirty="0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B61A3A51-214B-22F5-67F3-58784EC26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814" y="2483223"/>
            <a:ext cx="3393947" cy="2886636"/>
          </a:xfrm>
          <a:prstGeom prst="rect">
            <a:avLst/>
          </a:prstGeom>
        </p:spPr>
      </p:pic>
      <p:pic>
        <p:nvPicPr>
          <p:cNvPr id="16" name="Imagem 15" descr="Mapa&#10;&#10;O conteúdo gerado por IA pode estar incorreto.">
            <a:extLst>
              <a:ext uri="{FF2B5EF4-FFF2-40B4-BE49-F238E27FC236}">
                <a16:creationId xmlns:a16="http://schemas.microsoft.com/office/drawing/2014/main" id="{780DB5A4-F4B1-6729-205C-C38533A41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086" y="458579"/>
            <a:ext cx="3397040" cy="2881924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A673D4E-ADCE-A7CC-F178-C82037F1BDC8}"/>
              </a:ext>
            </a:extLst>
          </p:cNvPr>
          <p:cNvSpPr txBox="1"/>
          <p:nvPr/>
        </p:nvSpPr>
        <p:spPr>
          <a:xfrm>
            <a:off x="7517481" y="90911"/>
            <a:ext cx="42223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>
                <a:ea typeface="+mn-lt"/>
                <a:cs typeface="+mn-lt"/>
              </a:rPr>
              <a:t>A Primeira Rotação (Transformação em LL)</a:t>
            </a:r>
          </a:p>
        </p:txBody>
      </p:sp>
    </p:spTree>
    <p:extLst>
      <p:ext uri="{BB962C8B-B14F-4D97-AF65-F5344CB8AC3E}">
        <p14:creationId xmlns:p14="http://schemas.microsoft.com/office/powerpoint/2010/main" val="280488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1FE3C-BE69-15BB-F0D8-2204BFA4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C0A846-4724-FF02-78E3-4648213D861C}"/>
              </a:ext>
            </a:extLst>
          </p:cNvPr>
          <p:cNvSpPr txBox="1"/>
          <p:nvPr/>
        </p:nvSpPr>
        <p:spPr>
          <a:xfrm>
            <a:off x="548640" y="460326"/>
            <a:ext cx="4882662" cy="27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F96A7A-CF99-DA20-5473-DA11552F7836}"/>
              </a:ext>
            </a:extLst>
          </p:cNvPr>
          <p:cNvSpPr txBox="1"/>
          <p:nvPr/>
        </p:nvSpPr>
        <p:spPr>
          <a:xfrm>
            <a:off x="548640" y="731161"/>
            <a:ext cx="5307106" cy="80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6CCDF1F-4534-A0CA-3AE3-2563E0C97A69}"/>
              </a:ext>
            </a:extLst>
          </p:cNvPr>
          <p:cNvSpPr txBox="1"/>
          <p:nvPr/>
        </p:nvSpPr>
        <p:spPr>
          <a:xfrm>
            <a:off x="548640" y="6035040"/>
            <a:ext cx="429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A87D310-8C91-2EED-5C89-D0D4FDD5C9EA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960B466-9C67-0099-597C-2BC86C9EF227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18</a:t>
            </a:r>
            <a:endParaRPr lang="en-US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3DA5162A-65FC-CF41-C343-FDA1D023D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82" y="3958593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A7031157-60B6-5726-8F87-B8745064FA9A}"/>
              </a:ext>
            </a:extLst>
          </p:cNvPr>
          <p:cNvSpPr txBox="1"/>
          <p:nvPr/>
        </p:nvSpPr>
        <p:spPr>
          <a:xfrm>
            <a:off x="3453206" y="1832526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Estado Inicial (Desequilíbrio RL)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9FE8E4B-8300-FF18-78C3-3CA8DA6C0834}"/>
              </a:ext>
            </a:extLst>
          </p:cNvPr>
          <p:cNvSpPr txBox="1"/>
          <p:nvPr/>
        </p:nvSpPr>
        <p:spPr>
          <a:xfrm>
            <a:off x="7459669" y="3366868"/>
            <a:ext cx="44190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A Segunda Rotação (O Resultado Equilibrado)</a:t>
            </a:r>
            <a:endParaRPr lang="pt-BR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A16CB63-286A-7CBD-883D-AF29F8347369}"/>
              </a:ext>
            </a:extLst>
          </p:cNvPr>
          <p:cNvSpPr txBox="1"/>
          <p:nvPr/>
        </p:nvSpPr>
        <p:spPr>
          <a:xfrm>
            <a:off x="7656319" y="90911"/>
            <a:ext cx="4098679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700" b="1" dirty="0">
                <a:ea typeface="+mn-lt"/>
                <a:cs typeface="+mn-lt"/>
              </a:rPr>
              <a:t>A Primeira Rotação (Transformação em RR)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A01E629-C41E-89AF-C2AE-C8F1D9976680}"/>
              </a:ext>
            </a:extLst>
          </p:cNvPr>
          <p:cNvGrpSpPr/>
          <p:nvPr/>
        </p:nvGrpSpPr>
        <p:grpSpPr>
          <a:xfrm>
            <a:off x="551610" y="2040988"/>
            <a:ext cx="2121408" cy="3840480"/>
            <a:chOff x="7077456" y="2011680"/>
            <a:chExt cx="2121408" cy="3840480"/>
          </a:xfrm>
        </p:grpSpPr>
        <p:sp>
          <p:nvSpPr>
            <p:cNvPr id="15" name="Shape 26">
              <a:extLst>
                <a:ext uri="{FF2B5EF4-FFF2-40B4-BE49-F238E27FC236}">
                  <a16:creationId xmlns:a16="http://schemas.microsoft.com/office/drawing/2014/main" id="{4409CD5C-6ED6-F08B-5DF9-4D65379633EA}"/>
                </a:ext>
              </a:extLst>
            </p:cNvPr>
            <p:cNvSpPr/>
            <p:nvPr/>
          </p:nvSpPr>
          <p:spPr>
            <a:xfrm>
              <a:off x="7077456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18" name="Text 27">
              <a:extLst>
                <a:ext uri="{FF2B5EF4-FFF2-40B4-BE49-F238E27FC236}">
                  <a16:creationId xmlns:a16="http://schemas.microsoft.com/office/drawing/2014/main" id="{951169D3-F39D-EB97-AC51-948E3E92EB7B}"/>
                </a:ext>
              </a:extLst>
            </p:cNvPr>
            <p:cNvSpPr txBox="1"/>
            <p:nvPr/>
          </p:nvSpPr>
          <p:spPr>
            <a:xfrm>
              <a:off x="7260336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4</a:t>
              </a:r>
              <a:endParaRPr lang="en-US" sz="1050" dirty="0"/>
            </a:p>
          </p:txBody>
        </p:sp>
        <p:sp>
          <p:nvSpPr>
            <p:cNvPr id="19" name="Text 28">
              <a:extLst>
                <a:ext uri="{FF2B5EF4-FFF2-40B4-BE49-F238E27FC236}">
                  <a16:creationId xmlns:a16="http://schemas.microsoft.com/office/drawing/2014/main" id="{67371E3F-F62E-739A-F8E1-586F4116A18C}"/>
                </a:ext>
              </a:extLst>
            </p:cNvPr>
            <p:cNvSpPr txBox="1"/>
            <p:nvPr/>
          </p:nvSpPr>
          <p:spPr>
            <a:xfrm>
              <a:off x="7260336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RL</a:t>
              </a:r>
              <a:endParaRPr lang="en-US" sz="1600" dirty="0"/>
            </a:p>
          </p:txBody>
        </p:sp>
        <p:sp>
          <p:nvSpPr>
            <p:cNvPr id="20" name="Shape 29">
              <a:extLst>
                <a:ext uri="{FF2B5EF4-FFF2-40B4-BE49-F238E27FC236}">
                  <a16:creationId xmlns:a16="http://schemas.microsoft.com/office/drawing/2014/main" id="{FF79119A-2BF8-276C-339F-B85001753C1A}"/>
                </a:ext>
              </a:extLst>
            </p:cNvPr>
            <p:cNvSpPr/>
            <p:nvPr/>
          </p:nvSpPr>
          <p:spPr>
            <a:xfrm>
              <a:off x="7260336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1" name="Text 30">
              <a:extLst>
                <a:ext uri="{FF2B5EF4-FFF2-40B4-BE49-F238E27FC236}">
                  <a16:creationId xmlns:a16="http://schemas.microsoft.com/office/drawing/2014/main" id="{9EE1A810-4CF2-7D95-1C67-7390E47D106D}"/>
                </a:ext>
              </a:extLst>
            </p:cNvPr>
            <p:cNvSpPr txBox="1"/>
            <p:nvPr/>
          </p:nvSpPr>
          <p:spPr>
            <a:xfrm>
              <a:off x="7260336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22" name="Text 31">
              <a:extLst>
                <a:ext uri="{FF2B5EF4-FFF2-40B4-BE49-F238E27FC236}">
                  <a16:creationId xmlns:a16="http://schemas.microsoft.com/office/drawing/2014/main" id="{75984A40-1155-3D8F-9DBC-7F9F47C1DC45}"/>
                </a:ext>
              </a:extLst>
            </p:cNvPr>
            <p:cNvSpPr txBox="1"/>
            <p:nvPr/>
          </p:nvSpPr>
          <p:spPr>
            <a:xfrm>
              <a:off x="7260336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10 → i 30 → i 20</a:t>
              </a:r>
              <a:endParaRPr lang="en-US" sz="1100" dirty="0"/>
            </a:p>
          </p:txBody>
        </p:sp>
        <p:sp>
          <p:nvSpPr>
            <p:cNvPr id="23" name="Text 32">
              <a:extLst>
                <a:ext uri="{FF2B5EF4-FFF2-40B4-BE49-F238E27FC236}">
                  <a16:creationId xmlns:a16="http://schemas.microsoft.com/office/drawing/2014/main" id="{BB9523B8-C127-0361-14BE-C3B956645FEB}"/>
                </a:ext>
              </a:extLst>
            </p:cNvPr>
            <p:cNvSpPr txBox="1"/>
            <p:nvPr/>
          </p:nvSpPr>
          <p:spPr>
            <a:xfrm>
              <a:off x="7260336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24" name="Text 33">
              <a:extLst>
                <a:ext uri="{FF2B5EF4-FFF2-40B4-BE49-F238E27FC236}">
                  <a16:creationId xmlns:a16="http://schemas.microsoft.com/office/drawing/2014/main" id="{2A6394B6-CB83-B93E-A789-59E5D7AC1F4E}"/>
                </a:ext>
              </a:extLst>
            </p:cNvPr>
            <p:cNvSpPr txBox="1"/>
            <p:nvPr/>
          </p:nvSpPr>
          <p:spPr>
            <a:xfrm>
              <a:off x="7260336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  depois  l 10</a:t>
              </a:r>
              <a:endParaRPr lang="en-US" sz="1050" dirty="0"/>
            </a:p>
          </p:txBody>
        </p:sp>
      </p:grpSp>
      <p:pic>
        <p:nvPicPr>
          <p:cNvPr id="26" name="Imagem 25">
            <a:extLst>
              <a:ext uri="{FF2B5EF4-FFF2-40B4-BE49-F238E27FC236}">
                <a16:creationId xmlns:a16="http://schemas.microsoft.com/office/drawing/2014/main" id="{C4A404CB-644C-5094-099E-BB19439A5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544" y="2500923"/>
            <a:ext cx="3384372" cy="2852617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C6C0DBC3-2B6C-8503-CBAE-3397CB6C5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46195"/>
            <a:ext cx="3542716" cy="284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822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6CE7F-A6FF-0231-52F4-99B5C3D69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21A3D2-9D79-A793-8549-C8912449A568}"/>
              </a:ext>
            </a:extLst>
          </p:cNvPr>
          <p:cNvSpPr txBox="1"/>
          <p:nvPr/>
        </p:nvSpPr>
        <p:spPr>
          <a:xfrm>
            <a:off x="548640" y="460326"/>
            <a:ext cx="4804508" cy="27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B07133-D3D7-FFD6-A2F7-D2306B65C706}"/>
              </a:ext>
            </a:extLst>
          </p:cNvPr>
          <p:cNvSpPr txBox="1"/>
          <p:nvPr/>
        </p:nvSpPr>
        <p:spPr>
          <a:xfrm>
            <a:off x="548640" y="731161"/>
            <a:ext cx="5307106" cy="80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233E8A9-7C26-4433-967B-040DB18FB352}"/>
              </a:ext>
            </a:extLst>
          </p:cNvPr>
          <p:cNvSpPr txBox="1"/>
          <p:nvPr/>
        </p:nvSpPr>
        <p:spPr>
          <a:xfrm>
            <a:off x="548640" y="6035040"/>
            <a:ext cx="429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6C294EC-FDE9-8873-9300-8B79A0D035BC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D7D0E7A-050D-B1AB-70EC-F7A3BA7365F9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ea typeface="Calibri"/>
                <a:cs typeface="Calibri"/>
              </a:rPr>
              <a:t>19</a:t>
            </a:r>
            <a:endParaRPr lang="en-US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19437107-A874-DF28-6DF2-9051DACDC0E7}"/>
              </a:ext>
            </a:extLst>
          </p:cNvPr>
          <p:cNvSpPr txBox="1"/>
          <p:nvPr/>
        </p:nvSpPr>
        <p:spPr>
          <a:xfrm>
            <a:off x="3617833" y="1865923"/>
            <a:ext cx="27790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Elementos inseridos em uma sequência crescente</a:t>
            </a:r>
            <a:endParaRPr lang="pt-BR" b="1" dirty="0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A98A83BF-44A5-D666-CF31-07B7FAE7F3BB}"/>
              </a:ext>
            </a:extLst>
          </p:cNvPr>
          <p:cNvSpPr txBox="1"/>
          <p:nvPr/>
        </p:nvSpPr>
        <p:spPr>
          <a:xfrm>
            <a:off x="7731714" y="3557034"/>
            <a:ext cx="46156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Estado Otimizado O(log n)</a:t>
            </a:r>
            <a:endParaRPr lang="pt-BR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161BC1C-A248-2CD7-9659-1E2353DF7B3C}"/>
              </a:ext>
            </a:extLst>
          </p:cNvPr>
          <p:cNvSpPr txBox="1"/>
          <p:nvPr/>
        </p:nvSpPr>
        <p:spPr>
          <a:xfrm>
            <a:off x="7929857" y="90911"/>
            <a:ext cx="42223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Início do Reequilíbrio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CC0F12-5324-A720-8E00-AE35E8D59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615" y="2487672"/>
            <a:ext cx="4054232" cy="288889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A8F1E2-E44F-6685-A943-B8A4100F1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027" y="459154"/>
            <a:ext cx="3383717" cy="288192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2A7B2AD-396C-6A46-4AF6-51DC54D91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6973" y="3937000"/>
            <a:ext cx="3381823" cy="2872154"/>
          </a:xfrm>
          <a:prstGeom prst="rect">
            <a:avLst/>
          </a:prstGeom>
        </p:spPr>
      </p:pic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E473D8A-676E-45CF-83E9-58AC0CDF7D29}"/>
              </a:ext>
            </a:extLst>
          </p:cNvPr>
          <p:cNvGrpSpPr/>
          <p:nvPr/>
        </p:nvGrpSpPr>
        <p:grpSpPr>
          <a:xfrm>
            <a:off x="566928" y="2002715"/>
            <a:ext cx="2121408" cy="3840480"/>
            <a:chOff x="9253728" y="2011680"/>
            <a:chExt cx="2121408" cy="3840480"/>
          </a:xfrm>
        </p:grpSpPr>
        <p:sp>
          <p:nvSpPr>
            <p:cNvPr id="8" name="Shape 34">
              <a:extLst>
                <a:ext uri="{FF2B5EF4-FFF2-40B4-BE49-F238E27FC236}">
                  <a16:creationId xmlns:a16="http://schemas.microsoft.com/office/drawing/2014/main" id="{D769DE9E-056B-1AA6-5913-A16C1DCED825}"/>
                </a:ext>
              </a:extLst>
            </p:cNvPr>
            <p:cNvSpPr/>
            <p:nvPr/>
          </p:nvSpPr>
          <p:spPr>
            <a:xfrm>
              <a:off x="9253728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C62828"/>
            </a:solidFill>
            <a:ln w="12700">
              <a:solidFill>
                <a:srgbClr val="C62828"/>
              </a:solidFill>
              <a:prstDash val="solid"/>
            </a:ln>
          </p:spPr>
        </p:sp>
        <p:sp>
          <p:nvSpPr>
            <p:cNvPr id="9" name="Text 35">
              <a:extLst>
                <a:ext uri="{FF2B5EF4-FFF2-40B4-BE49-F238E27FC236}">
                  <a16:creationId xmlns:a16="http://schemas.microsoft.com/office/drawing/2014/main" id="{A4E75DCC-AE99-F56A-7A8F-AD94B33267A3}"/>
                </a:ext>
              </a:extLst>
            </p:cNvPr>
            <p:cNvSpPr txBox="1"/>
            <p:nvPr/>
          </p:nvSpPr>
          <p:spPr>
            <a:xfrm>
              <a:off x="9436608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5</a:t>
              </a:r>
              <a:endParaRPr lang="en-US" sz="1050" dirty="0"/>
            </a:p>
          </p:txBody>
        </p:sp>
        <p:sp>
          <p:nvSpPr>
            <p:cNvPr id="10" name="Text 36">
              <a:extLst>
                <a:ext uri="{FF2B5EF4-FFF2-40B4-BE49-F238E27FC236}">
                  <a16:creationId xmlns:a16="http://schemas.microsoft.com/office/drawing/2014/main" id="{AD3B6FEA-C670-0ADB-B052-1E51BBE9B51D}"/>
                </a:ext>
              </a:extLst>
            </p:cNvPr>
            <p:cNvSpPr txBox="1"/>
            <p:nvPr/>
          </p:nvSpPr>
          <p:spPr>
            <a:xfrm>
              <a:off x="9436608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Pior caso O(n)</a:t>
              </a:r>
              <a:endParaRPr lang="en-US" sz="1600" dirty="0"/>
            </a:p>
          </p:txBody>
        </p:sp>
        <p:sp>
          <p:nvSpPr>
            <p:cNvPr id="11" name="Shape 37">
              <a:extLst>
                <a:ext uri="{FF2B5EF4-FFF2-40B4-BE49-F238E27FC236}">
                  <a16:creationId xmlns:a16="http://schemas.microsoft.com/office/drawing/2014/main" id="{10609207-0767-FCB5-6D54-B84D46060D9E}"/>
                </a:ext>
              </a:extLst>
            </p:cNvPr>
            <p:cNvSpPr/>
            <p:nvPr/>
          </p:nvSpPr>
          <p:spPr>
            <a:xfrm>
              <a:off x="9436608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E57373"/>
              </a:solidFill>
              <a:prstDash val="solid"/>
            </a:ln>
          </p:spPr>
        </p:sp>
        <p:sp>
          <p:nvSpPr>
            <p:cNvPr id="12" name="Text 38">
              <a:extLst>
                <a:ext uri="{FF2B5EF4-FFF2-40B4-BE49-F238E27FC236}">
                  <a16:creationId xmlns:a16="http://schemas.microsoft.com/office/drawing/2014/main" id="{74FD62F1-0D21-FBDB-758F-5B5E02BC01A7}"/>
                </a:ext>
              </a:extLst>
            </p:cNvPr>
            <p:cNvSpPr txBox="1"/>
            <p:nvPr/>
          </p:nvSpPr>
          <p:spPr>
            <a:xfrm>
              <a:off x="9436608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13" name="Text 39">
              <a:extLst>
                <a:ext uri="{FF2B5EF4-FFF2-40B4-BE49-F238E27FC236}">
                  <a16:creationId xmlns:a16="http://schemas.microsoft.com/office/drawing/2014/main" id="{B17C53FA-4BD7-F227-9470-9C0BF068573C}"/>
                </a:ext>
              </a:extLst>
            </p:cNvPr>
            <p:cNvSpPr txBox="1"/>
            <p:nvPr/>
          </p:nvSpPr>
          <p:spPr>
            <a:xfrm>
              <a:off x="9436608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 → i 2 → i 3 → i 4 → i 5</a:t>
              </a:r>
              <a:endParaRPr lang="en-US" sz="1100" dirty="0"/>
            </a:p>
          </p:txBody>
        </p:sp>
        <p:sp>
          <p:nvSpPr>
            <p:cNvPr id="14" name="Text 40">
              <a:extLst>
                <a:ext uri="{FF2B5EF4-FFF2-40B4-BE49-F238E27FC236}">
                  <a16:creationId xmlns:a16="http://schemas.microsoft.com/office/drawing/2014/main" id="{418CB7FC-756D-2C5B-FF39-448DC7C2CF2D}"/>
                </a:ext>
              </a:extLst>
            </p:cNvPr>
            <p:cNvSpPr txBox="1"/>
            <p:nvPr/>
          </p:nvSpPr>
          <p:spPr>
            <a:xfrm>
              <a:off x="9436608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6" name="Text 41">
              <a:extLst>
                <a:ext uri="{FF2B5EF4-FFF2-40B4-BE49-F238E27FC236}">
                  <a16:creationId xmlns:a16="http://schemas.microsoft.com/office/drawing/2014/main" id="{3A686F10-F92F-079F-0382-CBFD12EB3ABA}"/>
                </a:ext>
              </a:extLst>
            </p:cNvPr>
            <p:cNvSpPr txBox="1"/>
            <p:nvPr/>
          </p:nvSpPr>
          <p:spPr>
            <a:xfrm>
              <a:off x="9436608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  depois  l 3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558715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CONDIÇÃO DE DERROTA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Derrota ligada ao pior caso de complexidade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7494" y="1810622"/>
            <a:ext cx="5330952" cy="4014216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CONTROLE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flipV="1">
            <a:off x="2194560" y="3172968"/>
            <a:ext cx="86868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063240" y="3172968"/>
            <a:ext cx="86868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 flipV="1">
            <a:off x="176022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19456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flipV="1">
            <a:off x="349758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93192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770632" y="2587752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901952" y="3246120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39312" y="3246120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46761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33629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20497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07365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6868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~ log₂(n) — busca eficiente mantida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8212" y="1869948"/>
            <a:ext cx="5166360" cy="3922776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629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— DERROTA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39128" y="2578608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995160" y="3090672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333488" y="3145536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589520" y="3657600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927848" y="3712464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83880" y="4224528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522208" y="4279392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778240" y="4791456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116568" y="4846320"/>
            <a:ext cx="512064" cy="512064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62940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= n − 1 — busca degrada para O(n)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derrota:  </a:t>
            </a: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jogador ignorar |FB| &gt; 1 por mais de 2 comandos consecutivos, a Pokédex “colapsa” — simulando o pior caso O(n) de uma BST degenerada.</a:t>
            </a:r>
            <a:endParaRPr lang="en-US" sz="1600" b="1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20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63149" y="77906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3" name="Shape 1"/>
          <p:cNvSpPr/>
          <p:nvPr/>
        </p:nvSpPr>
        <p:spPr>
          <a:xfrm>
            <a:off x="11382451" y="77906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4" name="Shape 2"/>
          <p:cNvSpPr/>
          <p:nvPr/>
        </p:nvSpPr>
        <p:spPr>
          <a:xfrm>
            <a:off x="11060582" y="45720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5" name="Shape 3"/>
          <p:cNvSpPr/>
          <p:nvPr/>
        </p:nvSpPr>
        <p:spPr>
          <a:xfrm>
            <a:off x="10241280" y="145206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6" name="Shape 4"/>
          <p:cNvSpPr/>
          <p:nvPr/>
        </p:nvSpPr>
        <p:spPr>
          <a:xfrm>
            <a:off x="11879885" y="145206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7" name="Shape 5"/>
          <p:cNvSpPr/>
          <p:nvPr/>
        </p:nvSpPr>
        <p:spPr>
          <a:xfrm flipV="1">
            <a:off x="10563149" y="233354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8" name="Shape 6"/>
          <p:cNvSpPr/>
          <p:nvPr/>
        </p:nvSpPr>
        <p:spPr>
          <a:xfrm>
            <a:off x="11382451" y="233354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9" name="Shape 7"/>
          <p:cNvSpPr/>
          <p:nvPr/>
        </p:nvSpPr>
        <p:spPr>
          <a:xfrm>
            <a:off x="11060582" y="201168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0" name="Shape 8"/>
          <p:cNvSpPr/>
          <p:nvPr/>
        </p:nvSpPr>
        <p:spPr>
          <a:xfrm>
            <a:off x="10241280" y="300654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1" name="Shape 9"/>
          <p:cNvSpPr/>
          <p:nvPr/>
        </p:nvSpPr>
        <p:spPr>
          <a:xfrm>
            <a:off x="11879885" y="300654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2" name="Shape 10"/>
          <p:cNvSpPr/>
          <p:nvPr/>
        </p:nvSpPr>
        <p:spPr>
          <a:xfrm flipV="1">
            <a:off x="10563149" y="388802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3" name="Shape 11"/>
          <p:cNvSpPr/>
          <p:nvPr/>
        </p:nvSpPr>
        <p:spPr>
          <a:xfrm>
            <a:off x="11382451" y="388802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4" name="Shape 12"/>
          <p:cNvSpPr/>
          <p:nvPr/>
        </p:nvSpPr>
        <p:spPr>
          <a:xfrm>
            <a:off x="11060582" y="356616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5" name="Shape 13"/>
          <p:cNvSpPr/>
          <p:nvPr/>
        </p:nvSpPr>
        <p:spPr>
          <a:xfrm>
            <a:off x="10241280" y="456102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6" name="Shape 14"/>
          <p:cNvSpPr/>
          <p:nvPr/>
        </p:nvSpPr>
        <p:spPr>
          <a:xfrm>
            <a:off x="11879885" y="456102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7" name="Shape 15"/>
          <p:cNvSpPr/>
          <p:nvPr/>
        </p:nvSpPr>
        <p:spPr>
          <a:xfrm flipV="1">
            <a:off x="10563149" y="544250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8" name="Shape 16"/>
          <p:cNvSpPr/>
          <p:nvPr/>
        </p:nvSpPr>
        <p:spPr>
          <a:xfrm>
            <a:off x="11382451" y="544250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9" name="Shape 17"/>
          <p:cNvSpPr/>
          <p:nvPr/>
        </p:nvSpPr>
        <p:spPr>
          <a:xfrm>
            <a:off x="11060582" y="512064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0" name="Shape 18"/>
          <p:cNvSpPr/>
          <p:nvPr/>
        </p:nvSpPr>
        <p:spPr>
          <a:xfrm>
            <a:off x="10241280" y="611550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1" name="Shape 19"/>
          <p:cNvSpPr/>
          <p:nvPr/>
        </p:nvSpPr>
        <p:spPr>
          <a:xfrm>
            <a:off x="11879885" y="611550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2" name="Text 20"/>
          <p:cNvSpPr txBox="1"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AUTOAVALIAÇÃO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os requisitos cobertos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1920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Jogo/modelo base identificado e citado (PokeTree, MIT 6.1210)</a:t>
            </a:r>
            <a:endParaRPr lang="en-US" sz="1500" b="1" dirty="0"/>
          </a:p>
        </p:txBody>
      </p:sp>
      <p:sp>
        <p:nvSpPr>
          <p:cNvPr id="27" name="Shape 25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2697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exige aplicação prática de ED II (AVL / Fator de Balanceamento)</a:t>
            </a:r>
            <a:endParaRPr lang="en-US" sz="1500" b="1" dirty="0"/>
          </a:p>
        </p:txBody>
      </p:sp>
      <p:sp>
        <p:nvSpPr>
          <p:cNvPr id="30" name="Shape 28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474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algorítmicas traduzidas em mecânicas ativas de jogo</a:t>
            </a:r>
            <a:endParaRPr lang="en-US" sz="1500" b="1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42519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de derrota associada ao pior caso de complexidade O(n)</a:t>
            </a:r>
            <a:endParaRPr lang="en-US" sz="1500" b="1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5029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preparado para a defesa em Pitch de 3 minutos</a:t>
            </a:r>
            <a:endParaRPr lang="en-US" sz="1500" b="1" dirty="0"/>
          </a:p>
        </p:txBody>
      </p:sp>
      <p:sp>
        <p:nvSpPr>
          <p:cNvPr id="39" name="Shape 37"/>
          <p:cNvSpPr/>
          <p:nvPr/>
        </p:nvSpPr>
        <p:spPr>
          <a:xfrm>
            <a:off x="548640" y="612648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1402</Words>
  <Application>Microsoft Office PowerPoint</Application>
  <PresentationFormat>Widescreen</PresentationFormat>
  <Paragraphs>241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 </cp:lastModifiedBy>
  <cp:revision>588</cp:revision>
  <dcterms:created xsi:type="dcterms:W3CDTF">2026-09-19T13:43:35Z</dcterms:created>
  <dcterms:modified xsi:type="dcterms:W3CDTF">2026-10-07T15:45:56Z</dcterms:modified>
</cp:coreProperties>
</file>