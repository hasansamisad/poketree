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8" r:id="rId4"/>
    <p:sldId id="277" r:id="rId5"/>
    <p:sldId id="258" r:id="rId6"/>
    <p:sldId id="259" r:id="rId7"/>
    <p:sldId id="260" r:id="rId8"/>
    <p:sldId id="261" r:id="rId9"/>
    <p:sldId id="262" r:id="rId10"/>
    <p:sldId id="265" r:id="rId11"/>
    <p:sldId id="270" r:id="rId12"/>
    <p:sldId id="271" r:id="rId13"/>
    <p:sldId id="275" r:id="rId14"/>
    <p:sldId id="276" r:id="rId15"/>
    <p:sldId id="263" r:id="rId16"/>
    <p:sldId id="264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FBFA2-1A35-44E5-9519-E6F7F81174A4}" v="229" dt="2026-09-19T14:53:34.908"/>
    <p1510:client id="{4989307D-F998-41EF-A2A3-FCEC8314F2BC}" v="5" dt="2026-09-20T15:28:50.801"/>
    <p1510:client id="{4B95103F-D95A-42BF-AF50-2788CD02F3F7}" v="691" dt="2026-09-19T16:03:16.622"/>
    <p1510:client id="{9F6FCAE5-9658-4F5A-A8D9-CF5859D53D24}" v="127" dt="2026-09-20T12:57:11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E60FAC-97C9-4F97-8DEE-A0058C7BA089}" type="datetimeFigureOut">
              <a:t>20/09/2026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3598DF-7236-480F-8C46-963B9CE3EDA5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0758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0E4F5-EBDC-1366-5729-E7AA5B89F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7E07A0-B289-2CA5-6DC3-D3C20467A2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A3734-9AC5-23CE-A355-DA7AC44BE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2ACB3-7EC8-A114-1585-E0FDC8F7D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166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90291-C625-3183-CB18-0DC6667E5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F511F-35BD-B310-B7C0-324F8C0370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862141-BBBE-97C3-8D76-E46ACCA17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25F3F-850B-0F36-1982-F72CDE0373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8639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61535-B4CD-4FEA-512C-DE297EFF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7B3E-54D7-0C1A-4275-C68A75E39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131220-682D-6314-B0DB-3CEAFE3B3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1BE679-97BE-06BB-084C-6BC0441973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95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81B61-BE94-BBF2-CC43-BB2C66A5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775A4-F207-BBFF-A6BE-5B8BD7A944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A3E1D6-7C2B-7264-C224-6029B02467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12E06C-FEDD-C015-CCA7-178FC11869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7906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C8A2A-EC01-B951-C673-F399192F9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19663B-1C52-7E6C-C6D1-DB45EE11F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5F2941-C466-54CB-F0E2-D5C60CA72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5861F-5E76-2D4C-482C-5F169B386E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26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14C64-971A-1076-75A9-70180400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90B19A-4D1C-B7E8-0AFB-1B557A1E7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8DF37-9ADD-E7AC-503B-75737587B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9F4552-2A08-5C82-36C4-82198A393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33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0F0-2652-85DD-908D-C05FECF4A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1F227-CE7C-1DD0-F00A-077D09488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E4FF58-862A-7599-93F4-D0081FDC5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060A6-CF5C-7464-1352-3082389484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365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146182" y="72786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3" name="Shape 1"/>
          <p:cNvSpPr/>
          <p:nvPr/>
        </p:nvSpPr>
        <p:spPr>
          <a:xfrm>
            <a:off x="11067898" y="72786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4" name="Shape 2"/>
          <p:cNvSpPr/>
          <p:nvPr/>
        </p:nvSpPr>
        <p:spPr>
          <a:xfrm>
            <a:off x="10705795" y="36576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5" name="Shape 3"/>
          <p:cNvSpPr/>
          <p:nvPr/>
        </p:nvSpPr>
        <p:spPr>
          <a:xfrm>
            <a:off x="9784080" y="148498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6" name="Shape 4"/>
          <p:cNvSpPr/>
          <p:nvPr/>
        </p:nvSpPr>
        <p:spPr>
          <a:xfrm>
            <a:off x="11627510" y="148498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7" name="Shape 5"/>
          <p:cNvSpPr/>
          <p:nvPr/>
        </p:nvSpPr>
        <p:spPr>
          <a:xfrm flipV="1">
            <a:off x="10191902" y="191658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8" name="Shape 6"/>
          <p:cNvSpPr/>
          <p:nvPr/>
        </p:nvSpPr>
        <p:spPr>
          <a:xfrm>
            <a:off x="11113618" y="191658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9" name="Shape 7"/>
          <p:cNvSpPr/>
          <p:nvPr/>
        </p:nvSpPr>
        <p:spPr>
          <a:xfrm>
            <a:off x="10751515" y="155448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0" name="Shape 8"/>
          <p:cNvSpPr/>
          <p:nvPr/>
        </p:nvSpPr>
        <p:spPr>
          <a:xfrm>
            <a:off x="9829800" y="267370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1" name="Shape 9"/>
          <p:cNvSpPr/>
          <p:nvPr/>
        </p:nvSpPr>
        <p:spPr>
          <a:xfrm>
            <a:off x="11673230" y="267370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2" name="Shape 10"/>
          <p:cNvSpPr/>
          <p:nvPr/>
        </p:nvSpPr>
        <p:spPr>
          <a:xfrm flipV="1">
            <a:off x="10237622" y="310530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3" name="Shape 11"/>
          <p:cNvSpPr/>
          <p:nvPr/>
        </p:nvSpPr>
        <p:spPr>
          <a:xfrm>
            <a:off x="11159338" y="310530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4" name="Shape 12"/>
          <p:cNvSpPr/>
          <p:nvPr/>
        </p:nvSpPr>
        <p:spPr>
          <a:xfrm>
            <a:off x="10797235" y="274320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5" name="Shape 13"/>
          <p:cNvSpPr/>
          <p:nvPr/>
        </p:nvSpPr>
        <p:spPr>
          <a:xfrm>
            <a:off x="9875520" y="386242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6" name="Shape 14"/>
          <p:cNvSpPr/>
          <p:nvPr/>
        </p:nvSpPr>
        <p:spPr>
          <a:xfrm>
            <a:off x="11718950" y="386242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7" name="Shape 15"/>
          <p:cNvSpPr/>
          <p:nvPr/>
        </p:nvSpPr>
        <p:spPr>
          <a:xfrm flipV="1">
            <a:off x="10146182" y="429402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8" name="Shape 16"/>
          <p:cNvSpPr/>
          <p:nvPr/>
        </p:nvSpPr>
        <p:spPr>
          <a:xfrm>
            <a:off x="11067898" y="429402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9" name="Shape 17"/>
          <p:cNvSpPr/>
          <p:nvPr/>
        </p:nvSpPr>
        <p:spPr>
          <a:xfrm>
            <a:off x="10705795" y="393192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0" name="Shape 18"/>
          <p:cNvSpPr/>
          <p:nvPr/>
        </p:nvSpPr>
        <p:spPr>
          <a:xfrm>
            <a:off x="9784080" y="505114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1" name="Shape 19"/>
          <p:cNvSpPr/>
          <p:nvPr/>
        </p:nvSpPr>
        <p:spPr>
          <a:xfrm>
            <a:off x="11627510" y="505114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2" name="Shape 20"/>
          <p:cNvSpPr/>
          <p:nvPr/>
        </p:nvSpPr>
        <p:spPr>
          <a:xfrm flipV="1">
            <a:off x="10191902" y="548274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3" name="Shape 21"/>
          <p:cNvSpPr/>
          <p:nvPr/>
        </p:nvSpPr>
        <p:spPr>
          <a:xfrm>
            <a:off x="11113618" y="5482742"/>
            <a:ext cx="921715" cy="757123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4" name="Shape 22"/>
          <p:cNvSpPr/>
          <p:nvPr/>
        </p:nvSpPr>
        <p:spPr>
          <a:xfrm>
            <a:off x="10751515" y="5120640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5" name="Shape 23"/>
          <p:cNvSpPr/>
          <p:nvPr/>
        </p:nvSpPr>
        <p:spPr>
          <a:xfrm>
            <a:off x="9829800" y="623986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6" name="Shape 24"/>
          <p:cNvSpPr/>
          <p:nvPr/>
        </p:nvSpPr>
        <p:spPr>
          <a:xfrm>
            <a:off x="11673230" y="6239866"/>
            <a:ext cx="724205" cy="724205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7" name="Text 25"/>
          <p:cNvSpPr txBox="1"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DADOS II  ·  PROJETO DE UPGRADE DE JOGO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26974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PokeTree: Modo Desafio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Balanceamento Ativo</a:t>
            </a:r>
            <a:endParaRPr lang="en-US" sz="4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434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o Fator de Balanceamento da árvore AVL em uma mecânica ativa de jogabilidade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521208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349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base: PokeTree — Erik D. Demaine (MIT CSAIL / 6.1210)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REUSO DA LITERATURA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base: PokeTree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6654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D. Demaine — professor de Ciência da Computação, MIT CSAIL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3522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didático da disciplina 6.1210 · Introduction to Algorithms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039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Civet / TypeScript, Pug e Stylus — código aberto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73152" cy="5669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4165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7258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github.com/edemaine/poketree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9224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12280" y="2084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NA LITERATURA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2377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Search Tree Game (Plataforma 2D/3D)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31546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dependem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assume 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400" b="1" i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r>
              <a:rPr lang="en-US" sz="1400" b="1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.”</a:t>
            </a:r>
            <a:endParaRPr lang="en-US" sz="1400" b="1" dirty="0"/>
          </a:p>
        </p:txBody>
      </p:sp>
      <p:sp>
        <p:nvSpPr>
          <p:cNvPr id="20" name="Shape 18"/>
          <p:cNvSpPr/>
          <p:nvPr/>
        </p:nvSpPr>
        <p:spPr>
          <a:xfrm>
            <a:off x="6812280" y="4160520"/>
            <a:ext cx="416052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431596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PokeTree, cada Pokémon é um nó visual e os comandos manipulam a árvore diretamente — exatamente essa categoria.</a:t>
            </a:r>
            <a:endParaRPr lang="en-US" sz="1400" b="1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9CDAF-AF12-D39F-96B7-4AB2B1B43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D9AFBC-6D9E-94F6-AF42-396394467D79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1 · Modelo de </a:t>
            </a:r>
            <a:r>
              <a:rPr lang="en-US" sz="1200" b="1" kern="0" spc="200" dirty="0" err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Árvore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 BST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5F781A-89C7-9DFC-6883-60D3DC36B5BB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O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modelo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base: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PokeTree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- BST</a:t>
            </a:r>
            <a:endParaRPr lang="en-US" sz="3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415107C5-AD84-1754-3FCF-A16532C7E9C1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EA929DE-AD95-8929-27B9-BC570168A573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03</a:t>
            </a:r>
            <a:endParaRPr lang="en-US" sz="1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D09DD50-92C5-2A23-D675-B4A9F3F30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83" y="1532653"/>
            <a:ext cx="9018494" cy="470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55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5DA4CF-CF16-947A-A7AB-2D0D680BE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F5F046-D8F6-CB0E-2166-41A879308305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1 · Modelo de </a:t>
            </a:r>
            <a:r>
              <a:rPr lang="en-US" sz="1200" b="1" kern="0" spc="200" dirty="0" err="1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Árvore</a:t>
            </a:r>
            <a:r>
              <a:rPr lang="en-US" sz="1200" b="1" kern="0" spc="200" dirty="0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 AVL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24EB995-8C49-3BE3-DA68-63DAE98C75C8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O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modelo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base: </a:t>
            </a:r>
            <a:r>
              <a:rPr lang="en-US" sz="3200" b="1" dirty="0" err="1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PokeTree</a:t>
            </a:r>
            <a:r>
              <a:rPr lang="en-US" sz="3200" b="1" dirty="0">
                <a:solidFill>
                  <a:srgbClr val="16233F"/>
                </a:solidFill>
                <a:latin typeface="Cambria"/>
                <a:ea typeface="Cambria"/>
                <a:cs typeface="Cambria" pitchFamily="34" charset="-120"/>
              </a:rPr>
              <a:t> - AVL</a:t>
            </a:r>
            <a:endParaRPr lang="en-US" sz="3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D2B19B-637E-CBE3-A5AD-F57DE691B327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C9738FA-262C-1E65-1A0E-EBF200D85B62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04</a:t>
            </a:r>
            <a:endParaRPr lang="en-US" sz="10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74774951-8B7A-54E5-EBBF-2AF681D64F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82" y="1530121"/>
            <a:ext cx="9018495" cy="470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188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ESTADO DA ARTE  ·  ANÁLISE CRÍTICA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falha que o jogo original evidencia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86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AVL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Passividade do aluno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rebalanceamento acontece automaticamente e instantaneamente a cada inserção. O estudante observa o algoritmo agir, mas nunca decide quando ou qual rotação aplicar.</a:t>
            </a:r>
            <a:endParaRPr lang="en-US" sz="1600" b="1" dirty="0"/>
          </a:p>
        </p:txBody>
      </p:sp>
      <p:sp>
        <p:nvSpPr>
          <p:cNvPr id="9" name="Shape 7"/>
          <p:cNvSpPr/>
          <p:nvPr/>
        </p:nvSpPr>
        <p:spPr>
          <a:xfrm>
            <a:off x="914400" y="5029200"/>
            <a:ext cx="434340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5166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decisão do jogador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965960"/>
            <a:ext cx="5074920" cy="3794760"/>
          </a:xfrm>
          <a:prstGeom prst="roundRect">
            <a:avLst>
              <a:gd name="adj" fmla="val 2892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2860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29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BST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8346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Ausência de feedback loop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52044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jogador pode inserir Pokémon em qualquer ordem — inclusive uma ordem que degenera a árvore — sem qualquer alerta, cor ou consequência no jogo.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6629400" y="5029200"/>
            <a:ext cx="4343400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29400" y="51663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punição para o pior caso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REUSO E MELHORIA PROPOSTA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proposta: Modo Desafio de Balanceamento Ativo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novo modo, adicionado ao jogo sem alterar os modos BST e AVL originais, construído em três frentes: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3055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13055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o Fator de Balanceamento (FB) de cada nó e um indicador visual de alerta de colapso.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5486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192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Estilização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319272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estado de </a:t>
            </a: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r>
              <a:rPr lang="en-US" sz="13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 e piscar — para todo nó com |FB| &gt; 1.</a:t>
            </a:r>
            <a:endParaRPr lang="en-US" sz="1300" b="1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640080" cy="640080"/>
          </a:xfrm>
          <a:prstGeom prst="ellipse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54864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50799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 de jogo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4503034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 de segurança que impede novas inserções enquanto houver desbalanceamento. Por baixo dos panos, reaproveita os comandos de inserção sem rebalanceamento e rotação manual (r / l) do modo BST — sem alterá-lo.</a:t>
            </a:r>
            <a:endParaRPr lang="en-US" sz="1400" b="1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RIGOR TEÓRICO (ED II)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conceito por trás da mecânica: Fator de Balanceamento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480560" cy="3794760"/>
          </a:xfrm>
          <a:prstGeom prst="roundRect">
            <a:avLst>
              <a:gd name="adj" fmla="val 2892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(AVL)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FB(nó) = altura(direita) − altura(esquerda)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≤ 1  </a:t>
            </a:r>
            <a:r>
              <a:rPr lang="en-US" sz="14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nó balanceado
</a:t>
            </a: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&gt; 1  </a:t>
            </a:r>
            <a:r>
              <a:rPr lang="en-US" sz="14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propriedade AVL violada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4572000"/>
            <a:ext cx="3840480" cy="0"/>
          </a:xfrm>
          <a:prstGeom prst="line">
            <a:avLst/>
          </a:prstGeom>
          <a:noFill/>
          <a:ln w="12700">
            <a:solidFill>
              <a:srgbClr val="2233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868680" y="44805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9BA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altura de cada nó já é calculada recursivamente pelo jogo original — reaproveitamos essa base, sem recriar a árvore.</a:t>
            </a:r>
            <a:endParaRPr lang="en-US" sz="1400" b="1" dirty="0"/>
          </a:p>
        </p:txBody>
      </p:sp>
      <p:sp>
        <p:nvSpPr>
          <p:cNvPr id="10" name="Shape 8"/>
          <p:cNvSpPr/>
          <p:nvPr/>
        </p:nvSpPr>
        <p:spPr>
          <a:xfrm>
            <a:off x="7360920" y="2761488"/>
            <a:ext cx="1417320" cy="283464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8778240" y="3813048"/>
            <a:ext cx="1417320" cy="283464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976872" y="1993392"/>
            <a:ext cx="768096" cy="768096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6976872" y="19933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22311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FB=+2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94192" y="3044952"/>
            <a:ext cx="768096" cy="768096"/>
          </a:xfrm>
          <a:prstGeom prst="ellipse">
            <a:avLst/>
          </a:prstGeom>
          <a:solidFill>
            <a:srgbClr val="F5F6F8"/>
          </a:solidFill>
          <a:ln w="1905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8394192" y="304495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235440" y="32826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FB=+1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11512" y="4096512"/>
            <a:ext cx="768096" cy="768096"/>
          </a:xfrm>
          <a:prstGeom prst="ellipse">
            <a:avLst/>
          </a:prstGeom>
          <a:solidFill>
            <a:srgbClr val="F5F6F8"/>
          </a:solidFill>
          <a:ln w="1905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9811512" y="40965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652760" y="43342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FB=0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55321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Inserções em sequência crescente (10 → 20 → 30) geram o caso RR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PROPRIEDADES ALGORÍTMICAS EM MECÂNICA ATIVA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algoritmo à mecânica de jogo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cor é decorativa: cada propriedade do FB controla diretamente uma regra observável do jogo.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0789920" cy="457200"/>
          </a:xfrm>
          <a:prstGeom prst="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68580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DE ED II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65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NO JOGO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909560" y="19659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ATIVADA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0789920" cy="566928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85800" y="24597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≤ 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(nó balanceado)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45973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alteração visual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2459736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Inserção liberada normalmente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5800" y="302666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= 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(alerta preventivo)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02666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em amarelo/laranja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909560" y="3026664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ao jogador, sem bloqueio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557016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548640" y="3557016"/>
            <a:ext cx="10789920" cy="566928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685800" y="35935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|FB| &gt; 1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(propriedade violada)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5935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pisca em vermelho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3593592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 “insert” é bloqueado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123944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85800" y="41605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simples (LL / RR)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16052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execução de r / l resolve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909560" y="4160520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alerta é removido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690872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548640" y="4690872"/>
            <a:ext cx="10789920" cy="566928"/>
          </a:xfrm>
          <a:prstGeom prst="rect">
            <a:avLst/>
          </a:prstGeom>
          <a:solidFill>
            <a:srgbClr val="F5F6F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85800" y="472744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Rotação dupla (LR / RL)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297680" y="472744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rotações, ordem correta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909560" y="472744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errada mantém o alerta ativo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257800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85800" y="529437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Desbalanceamento ignorado</a:t>
            </a:r>
            <a:endParaRPr lang="en-US" sz="11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 turnos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297680" y="529437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 de turnos em risco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5294376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Colapso: condição de derrota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824728"/>
            <a:ext cx="10789920" cy="0"/>
          </a:xfrm>
          <a:prstGeom prst="line">
            <a:avLst/>
          </a:prstGeom>
          <a:noFill/>
          <a:ln w="9525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C61DC993-E5B5-5308-B0BA-97B6F8608F6D}"/>
              </a:ext>
            </a:extLst>
          </p:cNvPr>
          <p:cNvGrpSpPr/>
          <p:nvPr/>
        </p:nvGrpSpPr>
        <p:grpSpPr>
          <a:xfrm>
            <a:off x="548640" y="2011680"/>
            <a:ext cx="2121408" cy="3840480"/>
            <a:chOff x="548640" y="2011680"/>
            <a:chExt cx="2121408" cy="3840480"/>
          </a:xfrm>
        </p:grpSpPr>
        <p:sp>
          <p:nvSpPr>
            <p:cNvPr id="4" name="Shape 2"/>
            <p:cNvSpPr/>
            <p:nvPr/>
          </p:nvSpPr>
          <p:spPr>
            <a:xfrm>
              <a:off x="548640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5" name="Text 3"/>
            <p:cNvSpPr txBox="1"/>
            <p:nvPr/>
          </p:nvSpPr>
          <p:spPr>
            <a:xfrm>
              <a:off x="731520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1</a:t>
              </a:r>
              <a:endParaRPr lang="en-US" sz="1050" dirty="0"/>
            </a:p>
          </p:txBody>
        </p:sp>
        <p:sp>
          <p:nvSpPr>
            <p:cNvPr id="6" name="Text 4"/>
            <p:cNvSpPr txBox="1"/>
            <p:nvPr/>
          </p:nvSpPr>
          <p:spPr>
            <a:xfrm>
              <a:off x="731520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RR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731520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8" name="Text 6"/>
            <p:cNvSpPr txBox="1"/>
            <p:nvPr/>
          </p:nvSpPr>
          <p:spPr>
            <a:xfrm>
              <a:off x="731520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9" name="Text 7"/>
            <p:cNvSpPr txBox="1"/>
            <p:nvPr/>
          </p:nvSpPr>
          <p:spPr>
            <a:xfrm>
              <a:off x="731520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10 → i 20 → i 30</a:t>
              </a:r>
              <a:endParaRPr lang="en-US" sz="1100" dirty="0"/>
            </a:p>
          </p:txBody>
        </p:sp>
        <p:sp>
          <p:nvSpPr>
            <p:cNvPr id="10" name="Text 8"/>
            <p:cNvSpPr txBox="1"/>
            <p:nvPr/>
          </p:nvSpPr>
          <p:spPr>
            <a:xfrm>
              <a:off x="731520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1" name="Text 9"/>
            <p:cNvSpPr txBox="1"/>
            <p:nvPr/>
          </p:nvSpPr>
          <p:spPr>
            <a:xfrm>
              <a:off x="731520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10</a:t>
              </a:r>
              <a:endParaRPr lang="en-US" sz="1050" dirty="0"/>
            </a:p>
          </p:txBody>
        </p:sp>
      </p:grp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D9F3C390-1D3F-09DA-5064-89EE208A4526}"/>
              </a:ext>
            </a:extLst>
          </p:cNvPr>
          <p:cNvGrpSpPr/>
          <p:nvPr/>
        </p:nvGrpSpPr>
        <p:grpSpPr>
          <a:xfrm>
            <a:off x="2724912" y="2011680"/>
            <a:ext cx="2121408" cy="3840480"/>
            <a:chOff x="2724912" y="2011680"/>
            <a:chExt cx="2121408" cy="3840480"/>
          </a:xfrm>
        </p:grpSpPr>
        <p:sp>
          <p:nvSpPr>
            <p:cNvPr id="12" name="Shape 10"/>
            <p:cNvSpPr/>
            <p:nvPr/>
          </p:nvSpPr>
          <p:spPr>
            <a:xfrm>
              <a:off x="2724912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13" name="Text 11"/>
            <p:cNvSpPr txBox="1"/>
            <p:nvPr/>
          </p:nvSpPr>
          <p:spPr>
            <a:xfrm>
              <a:off x="2907792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2</a:t>
              </a:r>
              <a:endParaRPr lang="en-US" sz="1050" dirty="0"/>
            </a:p>
          </p:txBody>
        </p:sp>
        <p:sp>
          <p:nvSpPr>
            <p:cNvPr id="14" name="Text 12"/>
            <p:cNvSpPr txBox="1"/>
            <p:nvPr/>
          </p:nvSpPr>
          <p:spPr>
            <a:xfrm>
              <a:off x="2907792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LL</a:t>
              </a:r>
              <a:endParaRPr lang="en-US" sz="160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2907792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16" name="Text 14"/>
            <p:cNvSpPr txBox="1"/>
            <p:nvPr/>
          </p:nvSpPr>
          <p:spPr>
            <a:xfrm>
              <a:off x="2907792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17" name="Text 15"/>
            <p:cNvSpPr txBox="1"/>
            <p:nvPr/>
          </p:nvSpPr>
          <p:spPr>
            <a:xfrm>
              <a:off x="2907792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20 → i 10</a:t>
              </a:r>
              <a:endParaRPr lang="en-US" sz="1100" dirty="0"/>
            </a:p>
          </p:txBody>
        </p:sp>
        <p:sp>
          <p:nvSpPr>
            <p:cNvPr id="18" name="Text 16"/>
            <p:cNvSpPr txBox="1"/>
            <p:nvPr/>
          </p:nvSpPr>
          <p:spPr>
            <a:xfrm>
              <a:off x="2907792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9" name="Text 17"/>
            <p:cNvSpPr txBox="1"/>
            <p:nvPr/>
          </p:nvSpPr>
          <p:spPr>
            <a:xfrm>
              <a:off x="2907792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</a:t>
              </a:r>
              <a:endParaRPr lang="en-US" sz="1050" dirty="0"/>
            </a:p>
          </p:txBody>
        </p:sp>
      </p:grp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77FF475A-4E70-8704-A154-BC01829372F4}"/>
              </a:ext>
            </a:extLst>
          </p:cNvPr>
          <p:cNvGrpSpPr/>
          <p:nvPr/>
        </p:nvGrpSpPr>
        <p:grpSpPr>
          <a:xfrm>
            <a:off x="4901184" y="2011680"/>
            <a:ext cx="2121408" cy="3840480"/>
            <a:chOff x="4901184" y="2011680"/>
            <a:chExt cx="2121408" cy="3840480"/>
          </a:xfrm>
        </p:grpSpPr>
        <p:sp>
          <p:nvSpPr>
            <p:cNvPr id="20" name="Shape 18"/>
            <p:cNvSpPr/>
            <p:nvPr/>
          </p:nvSpPr>
          <p:spPr>
            <a:xfrm>
              <a:off x="4901184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1" name="Text 19"/>
            <p:cNvSpPr txBox="1"/>
            <p:nvPr/>
          </p:nvSpPr>
          <p:spPr>
            <a:xfrm>
              <a:off x="5084064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3</a:t>
              </a:r>
              <a:endParaRPr lang="en-US" sz="1050" dirty="0"/>
            </a:p>
          </p:txBody>
        </p:sp>
        <p:sp>
          <p:nvSpPr>
            <p:cNvPr id="22" name="Text 20"/>
            <p:cNvSpPr txBox="1"/>
            <p:nvPr/>
          </p:nvSpPr>
          <p:spPr>
            <a:xfrm>
              <a:off x="5084064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LR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5084064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4" name="Text 22"/>
            <p:cNvSpPr txBox="1"/>
            <p:nvPr/>
          </p:nvSpPr>
          <p:spPr>
            <a:xfrm>
              <a:off x="5084064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25" name="Text 23"/>
            <p:cNvSpPr txBox="1"/>
            <p:nvPr/>
          </p:nvSpPr>
          <p:spPr>
            <a:xfrm>
              <a:off x="5084064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10 → i 20</a:t>
              </a:r>
              <a:endParaRPr lang="en-US" sz="1100" dirty="0"/>
            </a:p>
          </p:txBody>
        </p:sp>
        <p:sp>
          <p:nvSpPr>
            <p:cNvPr id="26" name="Text 24"/>
            <p:cNvSpPr txBox="1"/>
            <p:nvPr/>
          </p:nvSpPr>
          <p:spPr>
            <a:xfrm>
              <a:off x="5084064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27" name="Text 25"/>
            <p:cNvSpPr txBox="1"/>
            <p:nvPr/>
          </p:nvSpPr>
          <p:spPr>
            <a:xfrm>
              <a:off x="5084064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10  depois  r 30</a:t>
              </a:r>
              <a:endParaRPr lang="en-US" sz="1050" dirty="0"/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0E526C54-977C-DE2F-D634-02C86B77DEE7}"/>
              </a:ext>
            </a:extLst>
          </p:cNvPr>
          <p:cNvGrpSpPr/>
          <p:nvPr/>
        </p:nvGrpSpPr>
        <p:grpSpPr>
          <a:xfrm>
            <a:off x="7077456" y="2011680"/>
            <a:ext cx="2121408" cy="3840480"/>
            <a:chOff x="7077456" y="2011680"/>
            <a:chExt cx="2121408" cy="3840480"/>
          </a:xfrm>
        </p:grpSpPr>
        <p:sp>
          <p:nvSpPr>
            <p:cNvPr id="28" name="Shape 26"/>
            <p:cNvSpPr/>
            <p:nvPr/>
          </p:nvSpPr>
          <p:spPr>
            <a:xfrm>
              <a:off x="7077456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9" name="Text 27"/>
            <p:cNvSpPr txBox="1"/>
            <p:nvPr/>
          </p:nvSpPr>
          <p:spPr>
            <a:xfrm>
              <a:off x="7260336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4</a:t>
              </a:r>
              <a:endParaRPr lang="en-US" sz="1050" dirty="0"/>
            </a:p>
          </p:txBody>
        </p:sp>
        <p:sp>
          <p:nvSpPr>
            <p:cNvPr id="30" name="Text 28"/>
            <p:cNvSpPr txBox="1"/>
            <p:nvPr/>
          </p:nvSpPr>
          <p:spPr>
            <a:xfrm>
              <a:off x="7260336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RL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7260336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32" name="Text 30"/>
            <p:cNvSpPr txBox="1"/>
            <p:nvPr/>
          </p:nvSpPr>
          <p:spPr>
            <a:xfrm>
              <a:off x="7260336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33" name="Text 31"/>
            <p:cNvSpPr txBox="1"/>
            <p:nvPr/>
          </p:nvSpPr>
          <p:spPr>
            <a:xfrm>
              <a:off x="7260336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10 → i 30 → i 20</a:t>
              </a:r>
              <a:endParaRPr lang="en-US" sz="1100" dirty="0"/>
            </a:p>
          </p:txBody>
        </p:sp>
        <p:sp>
          <p:nvSpPr>
            <p:cNvPr id="34" name="Text 32"/>
            <p:cNvSpPr txBox="1"/>
            <p:nvPr/>
          </p:nvSpPr>
          <p:spPr>
            <a:xfrm>
              <a:off x="7260336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35" name="Text 33"/>
            <p:cNvSpPr txBox="1"/>
            <p:nvPr/>
          </p:nvSpPr>
          <p:spPr>
            <a:xfrm>
              <a:off x="7260336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  depois  l 10</a:t>
              </a:r>
              <a:endParaRPr lang="en-US" sz="1050" dirty="0"/>
            </a:p>
          </p:txBody>
        </p:sp>
      </p:grpSp>
      <p:grpSp>
        <p:nvGrpSpPr>
          <p:cNvPr id="51" name="Agrupar 50">
            <a:extLst>
              <a:ext uri="{FF2B5EF4-FFF2-40B4-BE49-F238E27FC236}">
                <a16:creationId xmlns:a16="http://schemas.microsoft.com/office/drawing/2014/main" id="{5AE17E5C-0AEE-37DD-02A4-87860294B158}"/>
              </a:ext>
            </a:extLst>
          </p:cNvPr>
          <p:cNvGrpSpPr/>
          <p:nvPr/>
        </p:nvGrpSpPr>
        <p:grpSpPr>
          <a:xfrm>
            <a:off x="9253728" y="2011680"/>
            <a:ext cx="2121408" cy="3840480"/>
            <a:chOff x="9253728" y="2011680"/>
            <a:chExt cx="2121408" cy="3840480"/>
          </a:xfrm>
        </p:grpSpPr>
        <p:sp>
          <p:nvSpPr>
            <p:cNvPr id="36" name="Shape 34"/>
            <p:cNvSpPr/>
            <p:nvPr/>
          </p:nvSpPr>
          <p:spPr>
            <a:xfrm>
              <a:off x="9253728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C62828"/>
            </a:solidFill>
            <a:ln w="12700">
              <a:solidFill>
                <a:srgbClr val="C62828"/>
              </a:solidFill>
              <a:prstDash val="solid"/>
            </a:ln>
          </p:spPr>
        </p:sp>
        <p:sp>
          <p:nvSpPr>
            <p:cNvPr id="37" name="Text 35"/>
            <p:cNvSpPr txBox="1"/>
            <p:nvPr/>
          </p:nvSpPr>
          <p:spPr>
            <a:xfrm>
              <a:off x="9436608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5</a:t>
              </a:r>
              <a:endParaRPr lang="en-US" sz="1050" dirty="0"/>
            </a:p>
          </p:txBody>
        </p:sp>
        <p:sp>
          <p:nvSpPr>
            <p:cNvPr id="38" name="Text 36"/>
            <p:cNvSpPr txBox="1"/>
            <p:nvPr/>
          </p:nvSpPr>
          <p:spPr>
            <a:xfrm>
              <a:off x="9436608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Pior caso O(n)</a:t>
              </a:r>
              <a:endParaRPr lang="en-US" sz="1600" dirty="0"/>
            </a:p>
          </p:txBody>
        </p:sp>
        <p:sp>
          <p:nvSpPr>
            <p:cNvPr id="39" name="Shape 37"/>
            <p:cNvSpPr/>
            <p:nvPr/>
          </p:nvSpPr>
          <p:spPr>
            <a:xfrm>
              <a:off x="9436608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E57373"/>
              </a:solidFill>
              <a:prstDash val="solid"/>
            </a:ln>
          </p:spPr>
        </p:sp>
        <p:sp>
          <p:nvSpPr>
            <p:cNvPr id="40" name="Text 38"/>
            <p:cNvSpPr txBox="1"/>
            <p:nvPr/>
          </p:nvSpPr>
          <p:spPr>
            <a:xfrm>
              <a:off x="9436608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41" name="Text 39"/>
            <p:cNvSpPr txBox="1"/>
            <p:nvPr/>
          </p:nvSpPr>
          <p:spPr>
            <a:xfrm>
              <a:off x="9436608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 → i 2 → i 3 → i 4 → i 5</a:t>
              </a:r>
              <a:endParaRPr lang="en-US" sz="1100" dirty="0"/>
            </a:p>
          </p:txBody>
        </p:sp>
        <p:sp>
          <p:nvSpPr>
            <p:cNvPr id="42" name="Text 40"/>
            <p:cNvSpPr txBox="1"/>
            <p:nvPr/>
          </p:nvSpPr>
          <p:spPr>
            <a:xfrm>
              <a:off x="9436608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43" name="Text 41"/>
            <p:cNvSpPr txBox="1"/>
            <p:nvPr/>
          </p:nvSpPr>
          <p:spPr>
            <a:xfrm>
              <a:off x="9436608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  depois  l 3</a:t>
              </a:r>
              <a:endParaRPr lang="en-US" sz="1050" dirty="0"/>
            </a:p>
          </p:txBody>
        </p:sp>
      </p:grpSp>
      <p:sp>
        <p:nvSpPr>
          <p:cNvPr id="44" name="Text 42"/>
          <p:cNvSpPr txBox="1"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ea typeface="Calibri"/>
                <a:cs typeface="Calibri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CCA4A-7DF9-9177-D80E-69DA47A08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6686B90-4B7A-FA04-921F-927AA2FC4401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D56C59E-CAEE-23E7-5EBD-BD3D12390FE5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B5E18F7-C807-40DF-F40F-71A52B96EF77}"/>
              </a:ext>
            </a:extLst>
          </p:cNvPr>
          <p:cNvSpPr/>
          <p:nvPr/>
        </p:nvSpPr>
        <p:spPr>
          <a:xfrm>
            <a:off x="548640" y="2011680"/>
            <a:ext cx="2121408" cy="3840480"/>
          </a:xfrm>
          <a:prstGeom prst="roundRect">
            <a:avLst>
              <a:gd name="adj" fmla="val 4310"/>
            </a:avLst>
          </a:prstGeom>
          <a:solidFill>
            <a:srgbClr val="F5F6F8"/>
          </a:solidFill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6D91001-55BD-A0A7-BD90-3884B14B0DC9}"/>
              </a:ext>
            </a:extLst>
          </p:cNvPr>
          <p:cNvSpPr txBox="1"/>
          <p:nvPr/>
        </p:nvSpPr>
        <p:spPr>
          <a:xfrm>
            <a:off x="731520" y="2240280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1</a:t>
            </a:r>
            <a:endParaRPr lang="en-US" sz="10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D5A8AF-F0D3-F26A-EA76-B6AC75E10286}"/>
              </a:ext>
            </a:extLst>
          </p:cNvPr>
          <p:cNvSpPr txBox="1"/>
          <p:nvPr/>
        </p:nvSpPr>
        <p:spPr>
          <a:xfrm>
            <a:off x="731520" y="2542032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RR</a:t>
            </a:r>
            <a:endParaRPr lang="en-US"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A5C9493-E2FB-8D2D-8F26-DD22C5BD1E41}"/>
              </a:ext>
            </a:extLst>
          </p:cNvPr>
          <p:cNvSpPr/>
          <p:nvPr/>
        </p:nvSpPr>
        <p:spPr>
          <a:xfrm>
            <a:off x="731520" y="3200400"/>
            <a:ext cx="1755648" cy="0"/>
          </a:xfrm>
          <a:prstGeom prst="line">
            <a:avLst/>
          </a:prstGeom>
          <a:noFill/>
          <a:ln w="12700">
            <a:solidFill>
              <a:srgbClr val="DCE1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4CAE1F-83F7-8FE3-850A-001059197D67}"/>
              </a:ext>
            </a:extLst>
          </p:cNvPr>
          <p:cNvSpPr txBox="1"/>
          <p:nvPr/>
        </p:nvSpPr>
        <p:spPr>
          <a:xfrm>
            <a:off x="731520" y="333756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6CDD6C6-AC08-7717-3F93-9A46CEEB4400}"/>
              </a:ext>
            </a:extLst>
          </p:cNvPr>
          <p:cNvSpPr txBox="1"/>
          <p:nvPr/>
        </p:nvSpPr>
        <p:spPr>
          <a:xfrm>
            <a:off x="731520" y="3566160"/>
            <a:ext cx="1755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10 → i 20 → i 30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985F8C-E253-AE10-56AE-3E00EB67754E}"/>
              </a:ext>
            </a:extLst>
          </p:cNvPr>
          <p:cNvSpPr txBox="1"/>
          <p:nvPr/>
        </p:nvSpPr>
        <p:spPr>
          <a:xfrm>
            <a:off x="731520" y="489204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CORREÇÃO</a:t>
            </a:r>
            <a:endParaRPr lang="en-US" sz="9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EF8BCC4-4A83-39C7-5C32-E61E47EE7DD9}"/>
              </a:ext>
            </a:extLst>
          </p:cNvPr>
          <p:cNvSpPr txBox="1"/>
          <p:nvPr/>
        </p:nvSpPr>
        <p:spPr>
          <a:xfrm>
            <a:off x="731520" y="5120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corrige com  l 10</a:t>
            </a:r>
            <a:endParaRPr lang="en-US" sz="105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D3B7042D-8CCF-7C72-A317-C33CADF85A89}"/>
              </a:ext>
            </a:extLst>
          </p:cNvPr>
          <p:cNvSpPr txBox="1"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ECA24BB-FB31-2176-925B-6882ECA51BC4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73F91AFD-998D-D9D2-E3F0-4FE959ACEFD0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11</a:t>
            </a:r>
            <a:endParaRPr lang="en-US" sz="1000" dirty="0"/>
          </a:p>
        </p:txBody>
      </p:sp>
      <p:pic>
        <p:nvPicPr>
          <p:cNvPr id="47" name="Imagem 46">
            <a:extLst>
              <a:ext uri="{FF2B5EF4-FFF2-40B4-BE49-F238E27FC236}">
                <a16:creationId xmlns:a16="http://schemas.microsoft.com/office/drawing/2014/main" id="{B92920CA-A2E6-7371-DA11-7C0C719C5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774" y="2528851"/>
            <a:ext cx="3400029" cy="2877671"/>
          </a:xfrm>
          <a:prstGeom prst="rect">
            <a:avLst/>
          </a:prstGeom>
        </p:spPr>
      </p:pic>
      <p:pic>
        <p:nvPicPr>
          <p:cNvPr id="48" name="Imagem 47">
            <a:extLst>
              <a:ext uri="{FF2B5EF4-FFF2-40B4-BE49-F238E27FC236}">
                <a16:creationId xmlns:a16="http://schemas.microsoft.com/office/drawing/2014/main" id="{133B5188-046E-9CE9-5755-4AC321301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848" y="2518241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206702B6-39EE-E893-B958-5019ABEB783C}"/>
              </a:ext>
            </a:extLst>
          </p:cNvPr>
          <p:cNvSpPr txBox="1"/>
          <p:nvPr/>
        </p:nvSpPr>
        <p:spPr>
          <a:xfrm>
            <a:off x="3617833" y="1865923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Estado Inicial (Desequilíbrio RR)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7868100B-D838-4A3C-B55B-C6C213E12EEE}"/>
              </a:ext>
            </a:extLst>
          </p:cNvPr>
          <p:cNvSpPr txBox="1"/>
          <p:nvPr/>
        </p:nvSpPr>
        <p:spPr>
          <a:xfrm>
            <a:off x="8260631" y="2006140"/>
            <a:ext cx="25986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Resultado Equilibrado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09268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A64BE3-19FA-A7C5-5767-CC4BEF9C6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40E2D1-2BAC-FDBF-B365-30A1744CE151}"/>
              </a:ext>
            </a:extLst>
          </p:cNvPr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6FA6B0-2859-D227-793E-8CB111C47EF6}"/>
              </a:ext>
            </a:extLst>
          </p:cNvPr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E819ECD-FBF7-7DA3-FA2C-1D3CB76567F0}"/>
              </a:ext>
            </a:extLst>
          </p:cNvPr>
          <p:cNvSpPr txBox="1"/>
          <p:nvPr/>
        </p:nvSpPr>
        <p:spPr>
          <a:xfrm>
            <a:off x="548640" y="6035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C690811-339A-1226-AC8B-293BD25FD713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E89ACEA-F875-5FFC-E59D-4496F26BABED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12</a:t>
            </a:r>
            <a:endParaRPr lang="pt-BR" dirty="0"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4261E7C5-D542-CF95-2A00-1784E7C0E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848" y="2518241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D53D404E-5BA2-A296-7C20-51765DEE9B28}"/>
              </a:ext>
            </a:extLst>
          </p:cNvPr>
          <p:cNvSpPr txBox="1"/>
          <p:nvPr/>
        </p:nvSpPr>
        <p:spPr>
          <a:xfrm>
            <a:off x="3617833" y="1865923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Estado Inicial (Desequilíbrio LL)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ACF0E503-7A96-4C7C-C1AC-2F0E7B2898C8}"/>
              </a:ext>
            </a:extLst>
          </p:cNvPr>
          <p:cNvSpPr txBox="1"/>
          <p:nvPr/>
        </p:nvSpPr>
        <p:spPr>
          <a:xfrm>
            <a:off x="8260631" y="2006140"/>
            <a:ext cx="259861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Resultado Equilibrado</a:t>
            </a:r>
            <a:endParaRPr lang="pt-BR" b="1" dirty="0"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70F34B35-75FE-1145-1960-F2F903F36D7C}"/>
              </a:ext>
            </a:extLst>
          </p:cNvPr>
          <p:cNvGrpSpPr/>
          <p:nvPr/>
        </p:nvGrpSpPr>
        <p:grpSpPr>
          <a:xfrm>
            <a:off x="546374" y="2011680"/>
            <a:ext cx="2121408" cy="3840480"/>
            <a:chOff x="2724912" y="2011680"/>
            <a:chExt cx="2121408" cy="3840480"/>
          </a:xfrm>
        </p:grpSpPr>
        <p:sp>
          <p:nvSpPr>
            <p:cNvPr id="24" name="Shape 10">
              <a:extLst>
                <a:ext uri="{FF2B5EF4-FFF2-40B4-BE49-F238E27FC236}">
                  <a16:creationId xmlns:a16="http://schemas.microsoft.com/office/drawing/2014/main" id="{991F9FC3-6DE0-6A22-3795-3B133C6469C8}"/>
                </a:ext>
              </a:extLst>
            </p:cNvPr>
            <p:cNvSpPr/>
            <p:nvPr/>
          </p:nvSpPr>
          <p:spPr>
            <a:xfrm>
              <a:off x="2724912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5" name="Text 11">
              <a:extLst>
                <a:ext uri="{FF2B5EF4-FFF2-40B4-BE49-F238E27FC236}">
                  <a16:creationId xmlns:a16="http://schemas.microsoft.com/office/drawing/2014/main" id="{920B3F2C-0613-04B9-42AF-BF4723AF4ED1}"/>
                </a:ext>
              </a:extLst>
            </p:cNvPr>
            <p:cNvSpPr txBox="1"/>
            <p:nvPr/>
          </p:nvSpPr>
          <p:spPr>
            <a:xfrm>
              <a:off x="2907792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2</a:t>
              </a:r>
              <a:endParaRPr lang="en-US" sz="1050" dirty="0"/>
            </a:p>
          </p:txBody>
        </p:sp>
        <p:sp>
          <p:nvSpPr>
            <p:cNvPr id="26" name="Text 12">
              <a:extLst>
                <a:ext uri="{FF2B5EF4-FFF2-40B4-BE49-F238E27FC236}">
                  <a16:creationId xmlns:a16="http://schemas.microsoft.com/office/drawing/2014/main" id="{BB3035D6-B274-22B2-E6F9-69E4DFF4AE4C}"/>
                </a:ext>
              </a:extLst>
            </p:cNvPr>
            <p:cNvSpPr txBox="1"/>
            <p:nvPr/>
          </p:nvSpPr>
          <p:spPr>
            <a:xfrm>
              <a:off x="2907792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LL</a:t>
              </a:r>
              <a:endParaRPr lang="en-US" sz="1600" dirty="0"/>
            </a:p>
          </p:txBody>
        </p:sp>
        <p:sp>
          <p:nvSpPr>
            <p:cNvPr id="27" name="Shape 13">
              <a:extLst>
                <a:ext uri="{FF2B5EF4-FFF2-40B4-BE49-F238E27FC236}">
                  <a16:creationId xmlns:a16="http://schemas.microsoft.com/office/drawing/2014/main" id="{F545650F-0220-1741-6F4D-59F28D87EAC6}"/>
                </a:ext>
              </a:extLst>
            </p:cNvPr>
            <p:cNvSpPr/>
            <p:nvPr/>
          </p:nvSpPr>
          <p:spPr>
            <a:xfrm>
              <a:off x="2907792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8" name="Text 14">
              <a:extLst>
                <a:ext uri="{FF2B5EF4-FFF2-40B4-BE49-F238E27FC236}">
                  <a16:creationId xmlns:a16="http://schemas.microsoft.com/office/drawing/2014/main" id="{C2B7FEC4-5A4A-4149-A55C-95760D9D168E}"/>
                </a:ext>
              </a:extLst>
            </p:cNvPr>
            <p:cNvSpPr txBox="1"/>
            <p:nvPr/>
          </p:nvSpPr>
          <p:spPr>
            <a:xfrm>
              <a:off x="2907792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29" name="Text 15">
              <a:extLst>
                <a:ext uri="{FF2B5EF4-FFF2-40B4-BE49-F238E27FC236}">
                  <a16:creationId xmlns:a16="http://schemas.microsoft.com/office/drawing/2014/main" id="{73E92AF2-2D5E-AA94-21C1-126AA71E18C7}"/>
                </a:ext>
              </a:extLst>
            </p:cNvPr>
            <p:cNvSpPr txBox="1"/>
            <p:nvPr/>
          </p:nvSpPr>
          <p:spPr>
            <a:xfrm>
              <a:off x="2907792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20 → i 10</a:t>
              </a:r>
              <a:endParaRPr lang="en-US" sz="1100" dirty="0"/>
            </a:p>
          </p:txBody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4E04B50C-B230-8987-1AD0-9DE0A254DFB4}"/>
                </a:ext>
              </a:extLst>
            </p:cNvPr>
            <p:cNvSpPr txBox="1"/>
            <p:nvPr/>
          </p:nvSpPr>
          <p:spPr>
            <a:xfrm>
              <a:off x="2907792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31" name="Text 17">
              <a:extLst>
                <a:ext uri="{FF2B5EF4-FFF2-40B4-BE49-F238E27FC236}">
                  <a16:creationId xmlns:a16="http://schemas.microsoft.com/office/drawing/2014/main" id="{54D7B4EC-34A2-E7FC-FD53-B1AD464BF036}"/>
                </a:ext>
              </a:extLst>
            </p:cNvPr>
            <p:cNvSpPr txBox="1"/>
            <p:nvPr/>
          </p:nvSpPr>
          <p:spPr>
            <a:xfrm>
              <a:off x="2907792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</a:t>
              </a:r>
              <a:endParaRPr lang="en-US" sz="1050" dirty="0"/>
            </a:p>
          </p:txBody>
        </p:sp>
      </p:grpSp>
      <p:pic>
        <p:nvPicPr>
          <p:cNvPr id="34" name="Imagem 33" descr="Mapa&#10;&#10;O conteúdo gerado por IA pode estar incorreto.">
            <a:extLst>
              <a:ext uri="{FF2B5EF4-FFF2-40B4-BE49-F238E27FC236}">
                <a16:creationId xmlns:a16="http://schemas.microsoft.com/office/drawing/2014/main" id="{02290C9F-8D21-B1E8-44EE-6E470D792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7980" y="2520461"/>
            <a:ext cx="3397040" cy="288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C456B-7D80-0C55-1403-E8B58F86F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020109-4A85-EC84-FD02-0CDD4A365156}"/>
              </a:ext>
            </a:extLst>
          </p:cNvPr>
          <p:cNvSpPr txBox="1"/>
          <p:nvPr/>
        </p:nvSpPr>
        <p:spPr>
          <a:xfrm>
            <a:off x="548640" y="456303"/>
            <a:ext cx="4778189" cy="2752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68A0F28-F418-644F-19DD-B7E389D57FE7}"/>
              </a:ext>
            </a:extLst>
          </p:cNvPr>
          <p:cNvSpPr txBox="1"/>
          <p:nvPr/>
        </p:nvSpPr>
        <p:spPr>
          <a:xfrm>
            <a:off x="548640" y="731161"/>
            <a:ext cx="5307106" cy="80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EBB52AF-5134-0812-BE9F-F0F645AB88E2}"/>
              </a:ext>
            </a:extLst>
          </p:cNvPr>
          <p:cNvSpPr txBox="1"/>
          <p:nvPr/>
        </p:nvSpPr>
        <p:spPr>
          <a:xfrm>
            <a:off x="548640" y="6035040"/>
            <a:ext cx="429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50101EDD-195A-9DB3-2C6D-CDD26249FB40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3AE96A1-DD1D-C5A2-C829-9C9059C82840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13</a:t>
            </a:r>
            <a:endParaRPr lang="pt-BR" dirty="0"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9FBC39D6-556C-3851-3883-008704686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601" y="3925700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BAFD768F-F8C1-E90A-7733-3A0EF6C516D5}"/>
              </a:ext>
            </a:extLst>
          </p:cNvPr>
          <p:cNvSpPr txBox="1"/>
          <p:nvPr/>
        </p:nvSpPr>
        <p:spPr>
          <a:xfrm>
            <a:off x="3617833" y="1865923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>
                <a:ea typeface="+mn-lt"/>
                <a:cs typeface="+mn-lt"/>
              </a:rPr>
              <a:t>O Estado Inicial (Desequilíbrio LR)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CE71FAFD-7C60-AB89-469D-39AFDF2B1C7D}"/>
              </a:ext>
            </a:extLst>
          </p:cNvPr>
          <p:cNvSpPr txBox="1"/>
          <p:nvPr/>
        </p:nvSpPr>
        <p:spPr>
          <a:xfrm>
            <a:off x="7319338" y="3557034"/>
            <a:ext cx="46156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>
                <a:ea typeface="+mn-lt"/>
                <a:cs typeface="+mn-lt"/>
              </a:rPr>
              <a:t>A Segunda Rotação (O Resultado Equilibrado)</a:t>
            </a:r>
            <a:endParaRPr lang="pt-BR" dirty="0"/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86EFC5D-E3BE-9F93-7D6A-846FB5E03688}"/>
              </a:ext>
            </a:extLst>
          </p:cNvPr>
          <p:cNvGrpSpPr/>
          <p:nvPr/>
        </p:nvGrpSpPr>
        <p:grpSpPr>
          <a:xfrm>
            <a:off x="544107" y="2001911"/>
            <a:ext cx="2121408" cy="3840480"/>
            <a:chOff x="4901184" y="2011680"/>
            <a:chExt cx="2121408" cy="3840480"/>
          </a:xfrm>
        </p:grpSpPr>
        <p:sp>
          <p:nvSpPr>
            <p:cNvPr id="5" name="Shape 18">
              <a:extLst>
                <a:ext uri="{FF2B5EF4-FFF2-40B4-BE49-F238E27FC236}">
                  <a16:creationId xmlns:a16="http://schemas.microsoft.com/office/drawing/2014/main" id="{A54285FC-9B72-575F-A82D-C032540FB104}"/>
                </a:ext>
              </a:extLst>
            </p:cNvPr>
            <p:cNvSpPr/>
            <p:nvPr/>
          </p:nvSpPr>
          <p:spPr>
            <a:xfrm>
              <a:off x="4901184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6" name="Text 19">
              <a:extLst>
                <a:ext uri="{FF2B5EF4-FFF2-40B4-BE49-F238E27FC236}">
                  <a16:creationId xmlns:a16="http://schemas.microsoft.com/office/drawing/2014/main" id="{A66890F4-E5E8-0382-89CE-D3EA24EB5BD5}"/>
                </a:ext>
              </a:extLst>
            </p:cNvPr>
            <p:cNvSpPr txBox="1"/>
            <p:nvPr/>
          </p:nvSpPr>
          <p:spPr>
            <a:xfrm>
              <a:off x="5084064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3</a:t>
              </a:r>
              <a:endParaRPr lang="en-US" sz="1050" dirty="0"/>
            </a:p>
          </p:txBody>
        </p:sp>
        <p:sp>
          <p:nvSpPr>
            <p:cNvPr id="7" name="Text 20">
              <a:extLst>
                <a:ext uri="{FF2B5EF4-FFF2-40B4-BE49-F238E27FC236}">
                  <a16:creationId xmlns:a16="http://schemas.microsoft.com/office/drawing/2014/main" id="{70D8E677-1BC4-ABDF-1A6C-926C14845040}"/>
                </a:ext>
              </a:extLst>
            </p:cNvPr>
            <p:cNvSpPr txBox="1"/>
            <p:nvPr/>
          </p:nvSpPr>
          <p:spPr>
            <a:xfrm>
              <a:off x="5084064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LR</a:t>
              </a:r>
              <a:endParaRPr lang="en-US" sz="1600" dirty="0"/>
            </a:p>
          </p:txBody>
        </p:sp>
        <p:sp>
          <p:nvSpPr>
            <p:cNvPr id="8" name="Shape 21">
              <a:extLst>
                <a:ext uri="{FF2B5EF4-FFF2-40B4-BE49-F238E27FC236}">
                  <a16:creationId xmlns:a16="http://schemas.microsoft.com/office/drawing/2014/main" id="{74DFA8FC-5F20-62E7-C551-88D5D303C88B}"/>
                </a:ext>
              </a:extLst>
            </p:cNvPr>
            <p:cNvSpPr/>
            <p:nvPr/>
          </p:nvSpPr>
          <p:spPr>
            <a:xfrm>
              <a:off x="5084064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9" name="Text 22">
              <a:extLst>
                <a:ext uri="{FF2B5EF4-FFF2-40B4-BE49-F238E27FC236}">
                  <a16:creationId xmlns:a16="http://schemas.microsoft.com/office/drawing/2014/main" id="{2DF14CAA-5B7D-0CB3-CC43-9B6409069CC1}"/>
                </a:ext>
              </a:extLst>
            </p:cNvPr>
            <p:cNvSpPr txBox="1"/>
            <p:nvPr/>
          </p:nvSpPr>
          <p:spPr>
            <a:xfrm>
              <a:off x="5084064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10" name="Text 23">
              <a:extLst>
                <a:ext uri="{FF2B5EF4-FFF2-40B4-BE49-F238E27FC236}">
                  <a16:creationId xmlns:a16="http://schemas.microsoft.com/office/drawing/2014/main" id="{4D7552FC-2C88-6928-8F4B-9329904DEE67}"/>
                </a:ext>
              </a:extLst>
            </p:cNvPr>
            <p:cNvSpPr txBox="1"/>
            <p:nvPr/>
          </p:nvSpPr>
          <p:spPr>
            <a:xfrm>
              <a:off x="5084064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30 → i 10 → i 20</a:t>
              </a:r>
              <a:endParaRPr lang="en-US" sz="1100" dirty="0"/>
            </a:p>
          </p:txBody>
        </p:sp>
        <p:sp>
          <p:nvSpPr>
            <p:cNvPr id="11" name="Text 24">
              <a:extLst>
                <a:ext uri="{FF2B5EF4-FFF2-40B4-BE49-F238E27FC236}">
                  <a16:creationId xmlns:a16="http://schemas.microsoft.com/office/drawing/2014/main" id="{E527292D-CD95-7449-CE2A-129949AD483D}"/>
                </a:ext>
              </a:extLst>
            </p:cNvPr>
            <p:cNvSpPr txBox="1"/>
            <p:nvPr/>
          </p:nvSpPr>
          <p:spPr>
            <a:xfrm>
              <a:off x="5084064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2" name="Text 25">
              <a:extLst>
                <a:ext uri="{FF2B5EF4-FFF2-40B4-BE49-F238E27FC236}">
                  <a16:creationId xmlns:a16="http://schemas.microsoft.com/office/drawing/2014/main" id="{1FDA6A49-2F40-2343-0B9F-FA7552542F98}"/>
                </a:ext>
              </a:extLst>
            </p:cNvPr>
            <p:cNvSpPr txBox="1"/>
            <p:nvPr/>
          </p:nvSpPr>
          <p:spPr>
            <a:xfrm>
              <a:off x="5084064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10  depois  r 30</a:t>
              </a:r>
              <a:endParaRPr lang="en-US" sz="1050" dirty="0"/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B61A3A51-214B-22F5-67F3-58784EC26C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814" y="2483223"/>
            <a:ext cx="3393947" cy="2886636"/>
          </a:xfrm>
          <a:prstGeom prst="rect">
            <a:avLst/>
          </a:prstGeom>
        </p:spPr>
      </p:pic>
      <p:pic>
        <p:nvPicPr>
          <p:cNvPr id="16" name="Imagem 15" descr="Mapa&#10;&#10;O conteúdo gerado por IA pode estar incorreto.">
            <a:extLst>
              <a:ext uri="{FF2B5EF4-FFF2-40B4-BE49-F238E27FC236}">
                <a16:creationId xmlns:a16="http://schemas.microsoft.com/office/drawing/2014/main" id="{780DB5A4-F4B1-6729-205C-C38533A41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086" y="458579"/>
            <a:ext cx="3397040" cy="2881924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DA673D4E-ADCE-A7CC-F178-C82037F1BDC8}"/>
              </a:ext>
            </a:extLst>
          </p:cNvPr>
          <p:cNvSpPr txBox="1"/>
          <p:nvPr/>
        </p:nvSpPr>
        <p:spPr>
          <a:xfrm>
            <a:off x="7517481" y="90911"/>
            <a:ext cx="42223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dirty="0">
                <a:ea typeface="+mn-lt"/>
                <a:cs typeface="+mn-lt"/>
              </a:rPr>
              <a:t>A Primeira Rotação (Transformação em LL)</a:t>
            </a:r>
          </a:p>
        </p:txBody>
      </p:sp>
    </p:spTree>
    <p:extLst>
      <p:ext uri="{BB962C8B-B14F-4D97-AF65-F5344CB8AC3E}">
        <p14:creationId xmlns:p14="http://schemas.microsoft.com/office/powerpoint/2010/main" val="280488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1FE3C-BE69-15BB-F0D8-2204BFA4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EC0A846-4724-FF02-78E3-4648213D861C}"/>
              </a:ext>
            </a:extLst>
          </p:cNvPr>
          <p:cNvSpPr txBox="1"/>
          <p:nvPr/>
        </p:nvSpPr>
        <p:spPr>
          <a:xfrm>
            <a:off x="548640" y="460326"/>
            <a:ext cx="4882662" cy="27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F96A7A-CF99-DA20-5473-DA11552F7836}"/>
              </a:ext>
            </a:extLst>
          </p:cNvPr>
          <p:cNvSpPr txBox="1"/>
          <p:nvPr/>
        </p:nvSpPr>
        <p:spPr>
          <a:xfrm>
            <a:off x="548640" y="731161"/>
            <a:ext cx="5307106" cy="80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16CCDF1F-4534-A0CA-3AE3-2563E0C97A69}"/>
              </a:ext>
            </a:extLst>
          </p:cNvPr>
          <p:cNvSpPr txBox="1"/>
          <p:nvPr/>
        </p:nvSpPr>
        <p:spPr>
          <a:xfrm>
            <a:off x="548640" y="6035040"/>
            <a:ext cx="429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DA87D310-8C91-2EED-5C89-D0D4FDD5C9EA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D960B466-9C67-0099-597C-2BC86C9EF227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14</a:t>
            </a:r>
            <a:endParaRPr lang="pt-BR" dirty="0"/>
          </a:p>
        </p:txBody>
      </p:sp>
      <p:pic>
        <p:nvPicPr>
          <p:cNvPr id="48" name="Imagem 47">
            <a:extLst>
              <a:ext uri="{FF2B5EF4-FFF2-40B4-BE49-F238E27FC236}">
                <a16:creationId xmlns:a16="http://schemas.microsoft.com/office/drawing/2014/main" id="{3DA5162A-65FC-CF41-C343-FDA1D023D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82" y="3958593"/>
            <a:ext cx="3392022" cy="2879353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A7031157-60B6-5726-8F87-B8745064FA9A}"/>
              </a:ext>
            </a:extLst>
          </p:cNvPr>
          <p:cNvSpPr txBox="1"/>
          <p:nvPr/>
        </p:nvSpPr>
        <p:spPr>
          <a:xfrm>
            <a:off x="3453206" y="1832526"/>
            <a:ext cx="2779058" cy="6552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O Estado Inicial (Desequilíbrio RL)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19FE8E4B-8300-FF18-78C3-3CA8DA6C0834}"/>
              </a:ext>
            </a:extLst>
          </p:cNvPr>
          <p:cNvSpPr txBox="1"/>
          <p:nvPr/>
        </p:nvSpPr>
        <p:spPr>
          <a:xfrm>
            <a:off x="7459669" y="3366868"/>
            <a:ext cx="44190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A Segunda Rotação (O Resultado Equilibrado)</a:t>
            </a:r>
            <a:endParaRPr lang="pt-BR" b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A16CB63-286A-7CBD-883D-AF29F8347369}"/>
              </a:ext>
            </a:extLst>
          </p:cNvPr>
          <p:cNvSpPr txBox="1"/>
          <p:nvPr/>
        </p:nvSpPr>
        <p:spPr>
          <a:xfrm>
            <a:off x="7656319" y="90911"/>
            <a:ext cx="4098679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700" b="1" dirty="0">
                <a:ea typeface="+mn-lt"/>
                <a:cs typeface="+mn-lt"/>
              </a:rPr>
              <a:t>A Primeira Rotação (Transformação em RR)</a:t>
            </a:r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CA01E629-C41E-89AF-C2AE-C8F1D9976680}"/>
              </a:ext>
            </a:extLst>
          </p:cNvPr>
          <p:cNvGrpSpPr/>
          <p:nvPr/>
        </p:nvGrpSpPr>
        <p:grpSpPr>
          <a:xfrm>
            <a:off x="551610" y="2040988"/>
            <a:ext cx="2121408" cy="3840480"/>
            <a:chOff x="7077456" y="2011680"/>
            <a:chExt cx="2121408" cy="3840480"/>
          </a:xfrm>
        </p:grpSpPr>
        <p:sp>
          <p:nvSpPr>
            <p:cNvPr id="15" name="Shape 26">
              <a:extLst>
                <a:ext uri="{FF2B5EF4-FFF2-40B4-BE49-F238E27FC236}">
                  <a16:creationId xmlns:a16="http://schemas.microsoft.com/office/drawing/2014/main" id="{4409CD5C-6ED6-F08B-5DF9-4D65379633EA}"/>
                </a:ext>
              </a:extLst>
            </p:cNvPr>
            <p:cNvSpPr/>
            <p:nvPr/>
          </p:nvSpPr>
          <p:spPr>
            <a:xfrm>
              <a:off x="7077456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F5F6F8"/>
            </a:solidFill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18" name="Text 27">
              <a:extLst>
                <a:ext uri="{FF2B5EF4-FFF2-40B4-BE49-F238E27FC236}">
                  <a16:creationId xmlns:a16="http://schemas.microsoft.com/office/drawing/2014/main" id="{951169D3-F39D-EB97-AC51-948E3E92EB7B}"/>
                </a:ext>
              </a:extLst>
            </p:cNvPr>
            <p:cNvSpPr txBox="1"/>
            <p:nvPr/>
          </p:nvSpPr>
          <p:spPr>
            <a:xfrm>
              <a:off x="7260336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E8A33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4</a:t>
              </a:r>
              <a:endParaRPr lang="en-US" sz="1050" dirty="0"/>
            </a:p>
          </p:txBody>
        </p:sp>
        <p:sp>
          <p:nvSpPr>
            <p:cNvPr id="19" name="Text 28">
              <a:extLst>
                <a:ext uri="{FF2B5EF4-FFF2-40B4-BE49-F238E27FC236}">
                  <a16:creationId xmlns:a16="http://schemas.microsoft.com/office/drawing/2014/main" id="{67371E3F-F62E-739A-F8E1-586F4116A18C}"/>
                </a:ext>
              </a:extLst>
            </p:cNvPr>
            <p:cNvSpPr txBox="1"/>
            <p:nvPr/>
          </p:nvSpPr>
          <p:spPr>
            <a:xfrm>
              <a:off x="7260336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6233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Caso duplo RL</a:t>
              </a:r>
              <a:endParaRPr lang="en-US" sz="1600" dirty="0"/>
            </a:p>
          </p:txBody>
        </p:sp>
        <p:sp>
          <p:nvSpPr>
            <p:cNvPr id="20" name="Shape 29">
              <a:extLst>
                <a:ext uri="{FF2B5EF4-FFF2-40B4-BE49-F238E27FC236}">
                  <a16:creationId xmlns:a16="http://schemas.microsoft.com/office/drawing/2014/main" id="{FF79119A-2BF8-276C-339F-B85001753C1A}"/>
                </a:ext>
              </a:extLst>
            </p:cNvPr>
            <p:cNvSpPr/>
            <p:nvPr/>
          </p:nvSpPr>
          <p:spPr>
            <a:xfrm>
              <a:off x="7260336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DCE1E8"/>
              </a:solidFill>
              <a:prstDash val="solid"/>
            </a:ln>
          </p:spPr>
        </p:sp>
        <p:sp>
          <p:nvSpPr>
            <p:cNvPr id="21" name="Text 30">
              <a:extLst>
                <a:ext uri="{FF2B5EF4-FFF2-40B4-BE49-F238E27FC236}">
                  <a16:creationId xmlns:a16="http://schemas.microsoft.com/office/drawing/2014/main" id="{9EE1A810-4CF2-7D95-1C67-7390E47D106D}"/>
                </a:ext>
              </a:extLst>
            </p:cNvPr>
            <p:cNvSpPr txBox="1"/>
            <p:nvPr/>
          </p:nvSpPr>
          <p:spPr>
            <a:xfrm>
              <a:off x="7260336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22" name="Text 31">
              <a:extLst>
                <a:ext uri="{FF2B5EF4-FFF2-40B4-BE49-F238E27FC236}">
                  <a16:creationId xmlns:a16="http://schemas.microsoft.com/office/drawing/2014/main" id="{75984A40-1155-3D8F-9DBC-7F9F47C1DC45}"/>
                </a:ext>
              </a:extLst>
            </p:cNvPr>
            <p:cNvSpPr txBox="1"/>
            <p:nvPr/>
          </p:nvSpPr>
          <p:spPr>
            <a:xfrm>
              <a:off x="7260336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16233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10 → i 30 → i 20</a:t>
              </a:r>
              <a:endParaRPr lang="en-US" sz="1100" dirty="0"/>
            </a:p>
          </p:txBody>
        </p:sp>
        <p:sp>
          <p:nvSpPr>
            <p:cNvPr id="23" name="Text 32">
              <a:extLst>
                <a:ext uri="{FF2B5EF4-FFF2-40B4-BE49-F238E27FC236}">
                  <a16:creationId xmlns:a16="http://schemas.microsoft.com/office/drawing/2014/main" id="{BB9523B8-C127-0361-14BE-C3B956645FEB}"/>
                </a:ext>
              </a:extLst>
            </p:cNvPr>
            <p:cNvSpPr txBox="1"/>
            <p:nvPr/>
          </p:nvSpPr>
          <p:spPr>
            <a:xfrm>
              <a:off x="7260336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5B647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24" name="Text 33">
              <a:extLst>
                <a:ext uri="{FF2B5EF4-FFF2-40B4-BE49-F238E27FC236}">
                  <a16:creationId xmlns:a16="http://schemas.microsoft.com/office/drawing/2014/main" id="{2A6394B6-CB83-B93E-A789-59E5D7AC1F4E}"/>
                </a:ext>
              </a:extLst>
            </p:cNvPr>
            <p:cNvSpPr txBox="1"/>
            <p:nvPr/>
          </p:nvSpPr>
          <p:spPr>
            <a:xfrm>
              <a:off x="7260336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2E7D3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r 30  depois  l 10</a:t>
              </a:r>
              <a:endParaRPr lang="en-US" sz="1050" dirty="0"/>
            </a:p>
          </p:txBody>
        </p:sp>
      </p:grpSp>
      <p:pic>
        <p:nvPicPr>
          <p:cNvPr id="26" name="Imagem 25">
            <a:extLst>
              <a:ext uri="{FF2B5EF4-FFF2-40B4-BE49-F238E27FC236}">
                <a16:creationId xmlns:a16="http://schemas.microsoft.com/office/drawing/2014/main" id="{C4A404CB-644C-5094-099E-BB19439A5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544" y="2500923"/>
            <a:ext cx="3384372" cy="2852617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C6C0DBC3-2B6C-8503-CBAE-3397CB6C5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546195"/>
            <a:ext cx="3542716" cy="284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82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6CE7F-A6FF-0231-52F4-99B5C3D69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21A3D2-9D79-A793-8549-C8912449A568}"/>
              </a:ext>
            </a:extLst>
          </p:cNvPr>
          <p:cNvSpPr txBox="1"/>
          <p:nvPr/>
        </p:nvSpPr>
        <p:spPr>
          <a:xfrm>
            <a:off x="548640" y="460326"/>
            <a:ext cx="4804508" cy="2711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 ·  ROTEIRO DE COMANDOS NO JOGO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9B07133-D3D7-FFD6-A2F7-D2306B65C706}"/>
              </a:ext>
            </a:extLst>
          </p:cNvPr>
          <p:cNvSpPr txBox="1"/>
          <p:nvPr/>
        </p:nvSpPr>
        <p:spPr>
          <a:xfrm>
            <a:off x="548640" y="731161"/>
            <a:ext cx="5307106" cy="805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vivo: 5 atos</a:t>
            </a:r>
            <a:endParaRPr lang="en-US" sz="30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233E8A9-7C26-4433-967B-040DB18FB352}"/>
              </a:ext>
            </a:extLst>
          </p:cNvPr>
          <p:cNvSpPr txBox="1"/>
          <p:nvPr/>
        </p:nvSpPr>
        <p:spPr>
          <a:xfrm>
            <a:off x="548640" y="6035040"/>
            <a:ext cx="4294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do Desafio AVL, executada sobre a base do modo BST · checkbox “heights” marcado</a:t>
            </a:r>
            <a:endParaRPr lang="en-US" sz="115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16C294EC-FDE9-8873-9300-8B79A0D035BC}"/>
              </a:ext>
            </a:extLst>
          </p:cNvPr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5D7D0E7A-050D-B1AB-70EC-F7A3BA7365F9}"/>
              </a:ext>
            </a:extLst>
          </p:cNvPr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ea typeface="Calibri"/>
                <a:cs typeface="Calibri"/>
              </a:rPr>
              <a:t>15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19437107-A874-DF28-6DF2-9051DACDC0E7}"/>
              </a:ext>
            </a:extLst>
          </p:cNvPr>
          <p:cNvSpPr txBox="1"/>
          <p:nvPr/>
        </p:nvSpPr>
        <p:spPr>
          <a:xfrm>
            <a:off x="3617833" y="1865923"/>
            <a:ext cx="277905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Elementos inseridos em uma sequência crescente</a:t>
            </a:r>
            <a:endParaRPr lang="pt-BR" b="1" dirty="0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A98A83BF-44A5-D666-CF31-07B7FAE7F3BB}"/>
              </a:ext>
            </a:extLst>
          </p:cNvPr>
          <p:cNvSpPr txBox="1"/>
          <p:nvPr/>
        </p:nvSpPr>
        <p:spPr>
          <a:xfrm>
            <a:off x="7731714" y="3557034"/>
            <a:ext cx="46156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Estado Otimizado O(log n)</a:t>
            </a:r>
            <a:endParaRPr lang="pt-BR" b="1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161BC1C-A248-2CD7-9659-1E2353DF7B3C}"/>
              </a:ext>
            </a:extLst>
          </p:cNvPr>
          <p:cNvSpPr txBox="1"/>
          <p:nvPr/>
        </p:nvSpPr>
        <p:spPr>
          <a:xfrm>
            <a:off x="7929857" y="90911"/>
            <a:ext cx="422237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b="1" dirty="0">
                <a:ea typeface="+mn-lt"/>
                <a:cs typeface="+mn-lt"/>
              </a:rPr>
              <a:t>Início do Reequilíbrio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7CC0F12-5324-A720-8E00-AE35E8D59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615" y="2487672"/>
            <a:ext cx="4054232" cy="288889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BA8F1E2-E44F-6685-A943-B8A4100F1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6027" y="459154"/>
            <a:ext cx="3383717" cy="288192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2A7B2AD-396C-6A46-4AF6-51DC54D915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6973" y="3937000"/>
            <a:ext cx="3381823" cy="2872154"/>
          </a:xfrm>
          <a:prstGeom prst="rect">
            <a:avLst/>
          </a:prstGeom>
        </p:spPr>
      </p:pic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E473D8A-676E-45CF-83E9-58AC0CDF7D29}"/>
              </a:ext>
            </a:extLst>
          </p:cNvPr>
          <p:cNvGrpSpPr/>
          <p:nvPr/>
        </p:nvGrpSpPr>
        <p:grpSpPr>
          <a:xfrm>
            <a:off x="566928" y="2002715"/>
            <a:ext cx="2121408" cy="3840480"/>
            <a:chOff x="9253728" y="2011680"/>
            <a:chExt cx="2121408" cy="3840480"/>
          </a:xfrm>
        </p:grpSpPr>
        <p:sp>
          <p:nvSpPr>
            <p:cNvPr id="8" name="Shape 34">
              <a:extLst>
                <a:ext uri="{FF2B5EF4-FFF2-40B4-BE49-F238E27FC236}">
                  <a16:creationId xmlns:a16="http://schemas.microsoft.com/office/drawing/2014/main" id="{D769DE9E-056B-1AA6-5913-A16C1DCED825}"/>
                </a:ext>
              </a:extLst>
            </p:cNvPr>
            <p:cNvSpPr/>
            <p:nvPr/>
          </p:nvSpPr>
          <p:spPr>
            <a:xfrm>
              <a:off x="9253728" y="2011680"/>
              <a:ext cx="2121408" cy="3840480"/>
            </a:xfrm>
            <a:prstGeom prst="roundRect">
              <a:avLst>
                <a:gd name="adj" fmla="val 4310"/>
              </a:avLst>
            </a:prstGeom>
            <a:solidFill>
              <a:srgbClr val="C62828"/>
            </a:solidFill>
            <a:ln w="12700">
              <a:solidFill>
                <a:srgbClr val="C62828"/>
              </a:solidFill>
              <a:prstDash val="solid"/>
            </a:ln>
          </p:spPr>
        </p:sp>
        <p:sp>
          <p:nvSpPr>
            <p:cNvPr id="9" name="Text 35">
              <a:extLst>
                <a:ext uri="{FF2B5EF4-FFF2-40B4-BE49-F238E27FC236}">
                  <a16:creationId xmlns:a16="http://schemas.microsoft.com/office/drawing/2014/main" id="{A4E75DCC-AE99-F56A-7A8F-AD94B33267A3}"/>
                </a:ext>
              </a:extLst>
            </p:cNvPr>
            <p:cNvSpPr txBox="1"/>
            <p:nvPr/>
          </p:nvSpPr>
          <p:spPr>
            <a:xfrm>
              <a:off x="9436608" y="2240280"/>
              <a:ext cx="1755648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ATO 5</a:t>
              </a:r>
              <a:endParaRPr lang="en-US" sz="1050" dirty="0"/>
            </a:p>
          </p:txBody>
        </p:sp>
        <p:sp>
          <p:nvSpPr>
            <p:cNvPr id="10" name="Text 36">
              <a:extLst>
                <a:ext uri="{FF2B5EF4-FFF2-40B4-BE49-F238E27FC236}">
                  <a16:creationId xmlns:a16="http://schemas.microsoft.com/office/drawing/2014/main" id="{AD3B6FEA-C670-0ADB-B052-1E51BBE9B51D}"/>
                </a:ext>
              </a:extLst>
            </p:cNvPr>
            <p:cNvSpPr txBox="1"/>
            <p:nvPr/>
          </p:nvSpPr>
          <p:spPr>
            <a:xfrm>
              <a:off x="9436608" y="2542032"/>
              <a:ext cx="1755648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Pior caso O(n)</a:t>
              </a:r>
              <a:endParaRPr lang="en-US" sz="1600" dirty="0"/>
            </a:p>
          </p:txBody>
        </p:sp>
        <p:sp>
          <p:nvSpPr>
            <p:cNvPr id="11" name="Shape 37">
              <a:extLst>
                <a:ext uri="{FF2B5EF4-FFF2-40B4-BE49-F238E27FC236}">
                  <a16:creationId xmlns:a16="http://schemas.microsoft.com/office/drawing/2014/main" id="{10609207-0767-FCB5-6D54-B84D46060D9E}"/>
                </a:ext>
              </a:extLst>
            </p:cNvPr>
            <p:cNvSpPr/>
            <p:nvPr/>
          </p:nvSpPr>
          <p:spPr>
            <a:xfrm>
              <a:off x="9436608" y="3200400"/>
              <a:ext cx="1755648" cy="0"/>
            </a:xfrm>
            <a:prstGeom prst="line">
              <a:avLst/>
            </a:prstGeom>
            <a:noFill/>
            <a:ln w="12700">
              <a:solidFill>
                <a:srgbClr val="E57373"/>
              </a:solidFill>
              <a:prstDash val="solid"/>
            </a:ln>
          </p:spPr>
        </p:sp>
        <p:sp>
          <p:nvSpPr>
            <p:cNvPr id="12" name="Text 38">
              <a:extLst>
                <a:ext uri="{FF2B5EF4-FFF2-40B4-BE49-F238E27FC236}">
                  <a16:creationId xmlns:a16="http://schemas.microsoft.com/office/drawing/2014/main" id="{74FD62F1-0D21-FBDB-758F-5B5E02BC01A7}"/>
                </a:ext>
              </a:extLst>
            </p:cNvPr>
            <p:cNvSpPr txBox="1"/>
            <p:nvPr/>
          </p:nvSpPr>
          <p:spPr>
            <a:xfrm>
              <a:off x="9436608" y="333756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COMANDOS</a:t>
              </a:r>
              <a:endParaRPr lang="en-US" sz="900" dirty="0"/>
            </a:p>
          </p:txBody>
        </p:sp>
        <p:sp>
          <p:nvSpPr>
            <p:cNvPr id="13" name="Text 39">
              <a:extLst>
                <a:ext uri="{FF2B5EF4-FFF2-40B4-BE49-F238E27FC236}">
                  <a16:creationId xmlns:a16="http://schemas.microsoft.com/office/drawing/2014/main" id="{B17C53FA-4BD7-F227-9470-9C0BF068573C}"/>
                </a:ext>
              </a:extLst>
            </p:cNvPr>
            <p:cNvSpPr txBox="1"/>
            <p:nvPr/>
          </p:nvSpPr>
          <p:spPr>
            <a:xfrm>
              <a:off x="9436608" y="3566160"/>
              <a:ext cx="1755648" cy="11887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i 1 → i 2 → i 3 → i 4 → i 5</a:t>
              </a:r>
              <a:endParaRPr lang="en-US" sz="1100" dirty="0"/>
            </a:p>
          </p:txBody>
        </p:sp>
        <p:sp>
          <p:nvSpPr>
            <p:cNvPr id="14" name="Text 40">
              <a:extLst>
                <a:ext uri="{FF2B5EF4-FFF2-40B4-BE49-F238E27FC236}">
                  <a16:creationId xmlns:a16="http://schemas.microsoft.com/office/drawing/2014/main" id="{418CB7FC-756D-2C5B-FF39-448DC7C2CF2D}"/>
                </a:ext>
              </a:extLst>
            </p:cNvPr>
            <p:cNvSpPr txBox="1"/>
            <p:nvPr/>
          </p:nvSpPr>
          <p:spPr>
            <a:xfrm>
              <a:off x="9436608" y="4892040"/>
              <a:ext cx="175564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kern="0" spc="100" dirty="0">
                  <a:solidFill>
                    <a:srgbClr val="FFE0E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CORREÇÃO</a:t>
              </a:r>
              <a:endParaRPr lang="en-US" sz="900" dirty="0"/>
            </a:p>
          </p:txBody>
        </p:sp>
        <p:sp>
          <p:nvSpPr>
            <p:cNvPr id="16" name="Text 41">
              <a:extLst>
                <a:ext uri="{FF2B5EF4-FFF2-40B4-BE49-F238E27FC236}">
                  <a16:creationId xmlns:a16="http://schemas.microsoft.com/office/drawing/2014/main" id="{3A686F10-F92F-079F-0382-CBFD12EB3ABA}"/>
                </a:ext>
              </a:extLst>
            </p:cNvPr>
            <p:cNvSpPr txBox="1"/>
            <p:nvPr/>
          </p:nvSpPr>
          <p:spPr>
            <a:xfrm>
              <a:off x="9436608" y="5120640"/>
              <a:ext cx="1755648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1050" b="1" dirty="0">
                  <a:solidFill>
                    <a:srgbClr val="FFFFF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corrige com  l 1  depois  l 3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558715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CONDIÇÃO DE DERROTA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Derrota ligada ao pior caso de complexidade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7494" y="1810622"/>
            <a:ext cx="5330952" cy="4014216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905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 CONTROLE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flipV="1">
            <a:off x="2194560" y="3172968"/>
            <a:ext cx="86868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063240" y="3172968"/>
            <a:ext cx="86868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 flipV="1">
            <a:off x="176022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19456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flipV="1">
            <a:off x="349758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931920" y="3831336"/>
            <a:ext cx="434340" cy="73152"/>
          </a:xfrm>
          <a:prstGeom prst="line">
            <a:avLst/>
          </a:prstGeom>
          <a:noFill/>
          <a:ln w="15875">
            <a:solidFill>
              <a:srgbClr val="5B64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2770632" y="2587752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901952" y="3246120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39312" y="3246120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46761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233629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320497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4073652" y="3904488"/>
            <a:ext cx="585216" cy="585216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6868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~ log₂(n) — busca eficiente mantida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8212" y="1869948"/>
            <a:ext cx="5166360" cy="3922776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6629400" y="2286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COLAPSO — DERROTA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39128" y="2578608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995160" y="3090672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333488" y="3145536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589520" y="3657600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927848" y="3712464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183880" y="4224528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522208" y="4279392"/>
            <a:ext cx="512064" cy="512064"/>
          </a:xfrm>
          <a:prstGeom prst="ellipse">
            <a:avLst/>
          </a:prstGeom>
          <a:solidFill>
            <a:srgbClr val="E9A3A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8778240" y="4791456"/>
            <a:ext cx="594360" cy="54864"/>
          </a:xfrm>
          <a:prstGeom prst="line">
            <a:avLst/>
          </a:prstGeom>
          <a:noFill/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116568" y="4846320"/>
            <a:ext cx="512064" cy="512064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662940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Altura = n − 1 — busca degrada para O(n)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9436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derrota:  </a:t>
            </a:r>
            <a:r>
              <a:rPr lang="en-US" sz="16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jogador ignorar |FB| &gt; 1 por mais de 2 comandos consecutivos, a Pokédex “colapsa” — simulando o pior caso O(n) de uma BST degenerada.</a:t>
            </a:r>
            <a:endParaRPr lang="en-US" sz="1600" b="1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PokeTree · Modo Desafio de Balanceamento Ativo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147572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16</a:t>
            </a:r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10563149" y="77906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3" name="Shape 1"/>
          <p:cNvSpPr/>
          <p:nvPr/>
        </p:nvSpPr>
        <p:spPr>
          <a:xfrm>
            <a:off x="11382451" y="77906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4" name="Shape 2"/>
          <p:cNvSpPr/>
          <p:nvPr/>
        </p:nvSpPr>
        <p:spPr>
          <a:xfrm>
            <a:off x="11060582" y="45720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5" name="Shape 3"/>
          <p:cNvSpPr/>
          <p:nvPr/>
        </p:nvSpPr>
        <p:spPr>
          <a:xfrm>
            <a:off x="10241280" y="145206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6" name="Shape 4"/>
          <p:cNvSpPr/>
          <p:nvPr/>
        </p:nvSpPr>
        <p:spPr>
          <a:xfrm>
            <a:off x="11879885" y="145206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7" name="Shape 5"/>
          <p:cNvSpPr/>
          <p:nvPr/>
        </p:nvSpPr>
        <p:spPr>
          <a:xfrm flipV="1">
            <a:off x="10563149" y="233354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8" name="Shape 6"/>
          <p:cNvSpPr/>
          <p:nvPr/>
        </p:nvSpPr>
        <p:spPr>
          <a:xfrm>
            <a:off x="11382451" y="233354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9" name="Shape 7"/>
          <p:cNvSpPr/>
          <p:nvPr/>
        </p:nvSpPr>
        <p:spPr>
          <a:xfrm>
            <a:off x="11060582" y="201168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0" name="Shape 8"/>
          <p:cNvSpPr/>
          <p:nvPr/>
        </p:nvSpPr>
        <p:spPr>
          <a:xfrm>
            <a:off x="10241280" y="300654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1" name="Shape 9"/>
          <p:cNvSpPr/>
          <p:nvPr/>
        </p:nvSpPr>
        <p:spPr>
          <a:xfrm>
            <a:off x="11879885" y="300654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2" name="Shape 10"/>
          <p:cNvSpPr/>
          <p:nvPr/>
        </p:nvSpPr>
        <p:spPr>
          <a:xfrm flipV="1">
            <a:off x="10563149" y="388802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3" name="Shape 11"/>
          <p:cNvSpPr/>
          <p:nvPr/>
        </p:nvSpPr>
        <p:spPr>
          <a:xfrm>
            <a:off x="11382451" y="388802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4" name="Shape 12"/>
          <p:cNvSpPr/>
          <p:nvPr/>
        </p:nvSpPr>
        <p:spPr>
          <a:xfrm>
            <a:off x="11060582" y="356616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5" name="Shape 13"/>
          <p:cNvSpPr/>
          <p:nvPr/>
        </p:nvSpPr>
        <p:spPr>
          <a:xfrm>
            <a:off x="10241280" y="456102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6" name="Shape 14"/>
          <p:cNvSpPr/>
          <p:nvPr/>
        </p:nvSpPr>
        <p:spPr>
          <a:xfrm>
            <a:off x="11879885" y="456102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7" name="Shape 15"/>
          <p:cNvSpPr/>
          <p:nvPr/>
        </p:nvSpPr>
        <p:spPr>
          <a:xfrm flipV="1">
            <a:off x="10563149" y="544250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8" name="Shape 16"/>
          <p:cNvSpPr/>
          <p:nvPr/>
        </p:nvSpPr>
        <p:spPr>
          <a:xfrm>
            <a:off x="11382451" y="5442509"/>
            <a:ext cx="819302" cy="672998"/>
          </a:xfrm>
          <a:prstGeom prst="lin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19" name="Shape 17"/>
          <p:cNvSpPr/>
          <p:nvPr/>
        </p:nvSpPr>
        <p:spPr>
          <a:xfrm>
            <a:off x="11060582" y="5120640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0" name="Shape 18"/>
          <p:cNvSpPr/>
          <p:nvPr/>
        </p:nvSpPr>
        <p:spPr>
          <a:xfrm>
            <a:off x="10241280" y="611550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1" name="Shape 19"/>
          <p:cNvSpPr/>
          <p:nvPr/>
        </p:nvSpPr>
        <p:spPr>
          <a:xfrm>
            <a:off x="11879885" y="6115507"/>
            <a:ext cx="643738" cy="64373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sp>
      <p:sp>
        <p:nvSpPr>
          <p:cNvPr id="22" name="Text 20"/>
          <p:cNvSpPr txBox="1"/>
          <p:nvPr/>
        </p:nvSpPr>
        <p:spPr>
          <a:xfrm>
            <a:off x="54864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AUTOAVALIAÇÃO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os requisitos cobertos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548640" y="196596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1920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Jogo/modelo base identificado e citado (PokeTree, MIT 6.1210)</a:t>
            </a:r>
            <a:endParaRPr lang="en-US" sz="1500" b="1" dirty="0"/>
          </a:p>
        </p:txBody>
      </p:sp>
      <p:sp>
        <p:nvSpPr>
          <p:cNvPr id="27" name="Shape 25"/>
          <p:cNvSpPr/>
          <p:nvPr/>
        </p:nvSpPr>
        <p:spPr>
          <a:xfrm>
            <a:off x="548640" y="274320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" y="2697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exige aplicação prática de ED II (AVL / Fator de Balanceamento)</a:t>
            </a:r>
            <a:endParaRPr lang="en-US" sz="1500" b="1" dirty="0"/>
          </a:p>
        </p:txBody>
      </p:sp>
      <p:sp>
        <p:nvSpPr>
          <p:cNvPr id="30" name="Shape 28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4747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algorítmicas traduzidas em mecânicas ativas de jogo</a:t>
            </a:r>
            <a:endParaRPr lang="en-US" sz="1500" b="1" dirty="0"/>
          </a:p>
        </p:txBody>
      </p:sp>
      <p:sp>
        <p:nvSpPr>
          <p:cNvPr id="33" name="Shape 31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864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" y="42519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de derrota associada ao pior caso de complexidade O(n)</a:t>
            </a:r>
            <a:endParaRPr lang="en-US" sz="1500" b="1" dirty="0"/>
          </a:p>
        </p:txBody>
      </p:sp>
      <p:sp>
        <p:nvSpPr>
          <p:cNvPr id="36" name="Shape 34"/>
          <p:cNvSpPr/>
          <p:nvPr/>
        </p:nvSpPr>
        <p:spPr>
          <a:xfrm>
            <a:off x="548640" y="507492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143000" y="50292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preparado para a defesa em Pitch de 3 minutos</a:t>
            </a:r>
            <a:endParaRPr lang="en-US" sz="1500" b="1" dirty="0"/>
          </a:p>
        </p:txBody>
      </p:sp>
      <p:sp>
        <p:nvSpPr>
          <p:cNvPr id="39" name="Shape 37"/>
          <p:cNvSpPr/>
          <p:nvPr/>
        </p:nvSpPr>
        <p:spPr>
          <a:xfrm>
            <a:off x="548640" y="6126480"/>
            <a:ext cx="2011680" cy="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0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 Perguntas?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1402</Words>
  <Application>Microsoft Office PowerPoint</Application>
  <PresentationFormat>Widescreen</PresentationFormat>
  <Paragraphs>241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 </cp:lastModifiedBy>
  <cp:revision>262</cp:revision>
  <dcterms:created xsi:type="dcterms:W3CDTF">2026-09-19T13:43:35Z</dcterms:created>
  <dcterms:modified xsi:type="dcterms:W3CDTF">2026-09-20T18:06:36Z</dcterms:modified>
</cp:coreProperties>
</file>