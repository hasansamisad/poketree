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78" r:id="rId4"/>
    <p:sldId id="277" r:id="rId5"/>
    <p:sldId id="258" r:id="rId6"/>
    <p:sldId id="259" r:id="rId7"/>
    <p:sldId id="260" r:id="rId8"/>
    <p:sldId id="261" r:id="rId9"/>
    <p:sldId id="262" r:id="rId10"/>
    <p:sldId id="265" r:id="rId11"/>
    <p:sldId id="270" r:id="rId12"/>
    <p:sldId id="271" r:id="rId13"/>
    <p:sldId id="275" r:id="rId14"/>
    <p:sldId id="276" r:id="rId15"/>
    <p:sldId id="263" r:id="rId16"/>
    <p:sldId id="264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6FBFA2-1A35-44E5-9519-E6F7F81174A4}" v="229" dt="2026-09-19T14:53:34.908"/>
    <p1510:client id="{4989307D-F998-41EF-A2A3-FCEC8314F2BC}" v="5" dt="2026-09-20T15:28:50.801"/>
    <p1510:client id="{4B95103F-D95A-42BF-AF50-2788CD02F3F7}" v="691" dt="2026-09-19T16:03:16.622"/>
    <p1510:client id="{9F6FCAE5-9658-4F5A-A8D9-CF5859D53D24}" v="127" dt="2026-09-20T12:57:11.463"/>
    <p1510:client id="{EF27FB57-D3BC-E520-FF67-748E520E5351}" v="90" dt="2026-09-21T12:06:00.0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E60FAC-97C9-4F97-8DEE-A0058C7BA089}" type="datetimeFigureOut">
              <a:t>21/09/2026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3598DF-7236-480F-8C46-963B9CE3EDA5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0758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0E4F5-EBDC-1366-5729-E7AA5B89F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7E07A0-B289-2CA5-6DC3-D3C20467A2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0A3734-9AC5-23CE-A355-DA7AC44BE0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52ACB3-7EC8-A114-1585-E0FDC8F7DE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1662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90291-C625-3183-CB18-0DC6667E5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DF511F-35BD-B310-B7C0-324F8C0370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862141-BBBE-97C3-8D76-E46ACCA172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125F3F-850B-0F36-1982-F72CDE0373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8639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61535-B4CD-4FEA-512C-DE297EFF5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717B3E-54D7-0C1A-4275-C68A75E392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131220-682D-6314-B0DB-3CEAFE3B32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1BE679-97BE-06BB-084C-6BC0441973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9952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81B61-BE94-BBF2-CC43-BB2C66A57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E775A4-F207-BBFF-A6BE-5B8BD7A944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A3E1D6-7C2B-7264-C224-6029B02467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12E06C-FEDD-C015-CCA7-178FC11869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7906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C8A2A-EC01-B951-C673-F399192F9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19663B-1C52-7E6C-C6D1-DB45EE11F2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5F2941-C466-54CB-F0E2-D5C60CA721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5861F-5E76-2D4C-482C-5F169B386E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2261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14C64-971A-1076-75A9-701804003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90B19A-4D1C-B7E8-0AFB-1B557A1E78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F8DF37-9ADD-E7AC-503B-75737587B4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9F4552-2A08-5C82-36C4-82198A3939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1336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810F0-2652-85DD-908D-C05FECF4A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71F227-CE7C-1DD0-F00A-077D09488E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E4FF58-862A-7599-93F4-D0081FDC52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7060A6-CF5C-7464-1352-3082389484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3653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146182" y="727862"/>
            <a:ext cx="921715" cy="757123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3" name="Shape 1"/>
          <p:cNvSpPr/>
          <p:nvPr/>
        </p:nvSpPr>
        <p:spPr>
          <a:xfrm>
            <a:off x="11067898" y="727862"/>
            <a:ext cx="921715" cy="757123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4" name="Shape 2"/>
          <p:cNvSpPr/>
          <p:nvPr/>
        </p:nvSpPr>
        <p:spPr>
          <a:xfrm>
            <a:off x="10705795" y="365760"/>
            <a:ext cx="724205" cy="724205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5" name="Shape 3"/>
          <p:cNvSpPr/>
          <p:nvPr/>
        </p:nvSpPr>
        <p:spPr>
          <a:xfrm>
            <a:off x="9784080" y="1484986"/>
            <a:ext cx="724205" cy="724205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6" name="Shape 4"/>
          <p:cNvSpPr/>
          <p:nvPr/>
        </p:nvSpPr>
        <p:spPr>
          <a:xfrm>
            <a:off x="11627510" y="1484986"/>
            <a:ext cx="724205" cy="724205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7" name="Shape 5"/>
          <p:cNvSpPr/>
          <p:nvPr/>
        </p:nvSpPr>
        <p:spPr>
          <a:xfrm flipV="1">
            <a:off x="10191902" y="1916582"/>
            <a:ext cx="921715" cy="757123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8" name="Shape 6"/>
          <p:cNvSpPr/>
          <p:nvPr/>
        </p:nvSpPr>
        <p:spPr>
          <a:xfrm>
            <a:off x="11113618" y="1916582"/>
            <a:ext cx="921715" cy="757123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9" name="Shape 7"/>
          <p:cNvSpPr/>
          <p:nvPr/>
        </p:nvSpPr>
        <p:spPr>
          <a:xfrm>
            <a:off x="10751515" y="1554480"/>
            <a:ext cx="724205" cy="724205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0" name="Shape 8"/>
          <p:cNvSpPr/>
          <p:nvPr/>
        </p:nvSpPr>
        <p:spPr>
          <a:xfrm>
            <a:off x="9829800" y="2673706"/>
            <a:ext cx="724205" cy="724205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1" name="Shape 9"/>
          <p:cNvSpPr/>
          <p:nvPr/>
        </p:nvSpPr>
        <p:spPr>
          <a:xfrm>
            <a:off x="11673230" y="2673706"/>
            <a:ext cx="724205" cy="724205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2" name="Shape 10"/>
          <p:cNvSpPr/>
          <p:nvPr/>
        </p:nvSpPr>
        <p:spPr>
          <a:xfrm flipV="1">
            <a:off x="10237622" y="3105302"/>
            <a:ext cx="921715" cy="757123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3" name="Shape 11"/>
          <p:cNvSpPr/>
          <p:nvPr/>
        </p:nvSpPr>
        <p:spPr>
          <a:xfrm>
            <a:off x="11159338" y="3105302"/>
            <a:ext cx="921715" cy="757123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4" name="Shape 12"/>
          <p:cNvSpPr/>
          <p:nvPr/>
        </p:nvSpPr>
        <p:spPr>
          <a:xfrm>
            <a:off x="10797235" y="2743200"/>
            <a:ext cx="724205" cy="724205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5" name="Shape 13"/>
          <p:cNvSpPr/>
          <p:nvPr/>
        </p:nvSpPr>
        <p:spPr>
          <a:xfrm>
            <a:off x="9875520" y="3862426"/>
            <a:ext cx="724205" cy="724205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6" name="Shape 14"/>
          <p:cNvSpPr/>
          <p:nvPr/>
        </p:nvSpPr>
        <p:spPr>
          <a:xfrm>
            <a:off x="11718950" y="3862426"/>
            <a:ext cx="724205" cy="724205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7" name="Shape 15"/>
          <p:cNvSpPr/>
          <p:nvPr/>
        </p:nvSpPr>
        <p:spPr>
          <a:xfrm flipV="1">
            <a:off x="10146182" y="4294022"/>
            <a:ext cx="921715" cy="757123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8" name="Shape 16"/>
          <p:cNvSpPr/>
          <p:nvPr/>
        </p:nvSpPr>
        <p:spPr>
          <a:xfrm>
            <a:off x="11067898" y="4294022"/>
            <a:ext cx="921715" cy="757123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9" name="Shape 17"/>
          <p:cNvSpPr/>
          <p:nvPr/>
        </p:nvSpPr>
        <p:spPr>
          <a:xfrm>
            <a:off x="10705795" y="3931920"/>
            <a:ext cx="724205" cy="724205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20" name="Shape 18"/>
          <p:cNvSpPr/>
          <p:nvPr/>
        </p:nvSpPr>
        <p:spPr>
          <a:xfrm>
            <a:off x="9784080" y="5051146"/>
            <a:ext cx="724205" cy="724205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21" name="Shape 19"/>
          <p:cNvSpPr/>
          <p:nvPr/>
        </p:nvSpPr>
        <p:spPr>
          <a:xfrm>
            <a:off x="11627510" y="5051146"/>
            <a:ext cx="724205" cy="724205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22" name="Shape 20"/>
          <p:cNvSpPr/>
          <p:nvPr/>
        </p:nvSpPr>
        <p:spPr>
          <a:xfrm flipV="1">
            <a:off x="10191902" y="5482742"/>
            <a:ext cx="921715" cy="757123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23" name="Shape 21"/>
          <p:cNvSpPr/>
          <p:nvPr/>
        </p:nvSpPr>
        <p:spPr>
          <a:xfrm>
            <a:off x="11113618" y="5482742"/>
            <a:ext cx="921715" cy="757123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24" name="Shape 22"/>
          <p:cNvSpPr/>
          <p:nvPr/>
        </p:nvSpPr>
        <p:spPr>
          <a:xfrm>
            <a:off x="10751515" y="5120640"/>
            <a:ext cx="724205" cy="724205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25" name="Shape 23"/>
          <p:cNvSpPr/>
          <p:nvPr/>
        </p:nvSpPr>
        <p:spPr>
          <a:xfrm>
            <a:off x="9829800" y="6239866"/>
            <a:ext cx="724205" cy="724205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26" name="Shape 24"/>
          <p:cNvSpPr/>
          <p:nvPr/>
        </p:nvSpPr>
        <p:spPr>
          <a:xfrm>
            <a:off x="11673230" y="6239866"/>
            <a:ext cx="724205" cy="724205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27" name="Text 25"/>
          <p:cNvSpPr txBox="1"/>
          <p:nvPr/>
        </p:nvSpPr>
        <p:spPr>
          <a:xfrm>
            <a:off x="476753" y="6351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II  ·  PROJETO DE UPGRADE DE JOGO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76753" y="1000952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PokeTree: Modo Desafio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Balanceamento Ativo</a:t>
            </a:r>
            <a:endParaRPr lang="en-US" sz="4400" dirty="0"/>
          </a:p>
        </p:txBody>
      </p:sp>
      <p:sp>
        <p:nvSpPr>
          <p:cNvPr id="29" name="Text 27"/>
          <p:cNvSpPr txBox="1"/>
          <p:nvPr/>
        </p:nvSpPr>
        <p:spPr>
          <a:xfrm>
            <a:off x="476753" y="273831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Transformando o Fator de Balanceamento da árvore AVL em uma mecânica ativa de jogabilidade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76753" y="3515552"/>
            <a:ext cx="20116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6753" y="36527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B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base: PokeTree — Erik D. Demaine (MIT CSAIL / 6.1210)</a:t>
            </a:r>
            <a:endParaRPr lang="en-US" sz="1250" dirty="0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D0852E40-1ACC-9CA8-4BD7-1C61FE1B0726}"/>
              </a:ext>
            </a:extLst>
          </p:cNvPr>
          <p:cNvSpPr txBox="1"/>
          <p:nvPr/>
        </p:nvSpPr>
        <p:spPr>
          <a:xfrm>
            <a:off x="481788" y="4843995"/>
            <a:ext cx="3106391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i="1" dirty="0">
                <a:solidFill>
                  <a:schemeClr val="bg1"/>
                </a:solidFill>
                <a:latin typeface="Cambria"/>
                <a:ea typeface="Cambria"/>
                <a:cs typeface="Calibri"/>
              </a:rPr>
              <a:t>Alunos: </a:t>
            </a:r>
            <a:endParaRPr lang="pt-PT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pt-PT" i="1" dirty="0">
                <a:solidFill>
                  <a:schemeClr val="accent2"/>
                </a:solidFill>
                <a:latin typeface="Cambria"/>
                <a:ea typeface="Cambria"/>
                <a:cs typeface="Calibri"/>
              </a:rPr>
              <a:t>Artur Nunes Duarte</a:t>
            </a:r>
            <a:endParaRPr lang="pt-PT">
              <a:solidFill>
                <a:schemeClr val="accent2"/>
              </a:solidFill>
              <a:ea typeface="Calibri"/>
              <a:cs typeface="Calibri"/>
            </a:endParaRPr>
          </a:p>
          <a:p>
            <a:r>
              <a:rPr lang="pt-PT" i="1" dirty="0" err="1">
                <a:solidFill>
                  <a:schemeClr val="accent2"/>
                </a:solidFill>
                <a:latin typeface="Cambria"/>
                <a:ea typeface="Cambria"/>
                <a:cs typeface="Calibri"/>
              </a:rPr>
              <a:t>Hasan</a:t>
            </a:r>
            <a:r>
              <a:rPr lang="pt-PT" i="1" dirty="0">
                <a:solidFill>
                  <a:schemeClr val="accent2"/>
                </a:solidFill>
                <a:latin typeface="Cambria"/>
                <a:ea typeface="Cambria"/>
                <a:cs typeface="Calibri"/>
              </a:rPr>
              <a:t> Sami </a:t>
            </a:r>
            <a:r>
              <a:rPr lang="pt-PT" i="1" dirty="0" err="1">
                <a:solidFill>
                  <a:schemeClr val="accent2"/>
                </a:solidFill>
                <a:latin typeface="Cambria"/>
                <a:ea typeface="Cambria"/>
                <a:cs typeface="Calibri"/>
              </a:rPr>
              <a:t>Sad</a:t>
            </a:r>
            <a:endParaRPr lang="pt-PT" i="1" dirty="0">
              <a:solidFill>
                <a:schemeClr val="accent2"/>
              </a:solidFill>
              <a:latin typeface="Cambria"/>
              <a:ea typeface="Cambria"/>
              <a:cs typeface="Calibri"/>
            </a:endParaRPr>
          </a:p>
          <a:p>
            <a:r>
              <a:rPr lang="pt-PT" i="1" dirty="0">
                <a:solidFill>
                  <a:schemeClr val="accent2"/>
                </a:solidFill>
                <a:latin typeface="Cambria"/>
                <a:ea typeface="Cambria"/>
                <a:cs typeface="Calibri"/>
              </a:rPr>
              <a:t>Isaque Costa Rodrigues</a:t>
            </a:r>
          </a:p>
          <a:p>
            <a:r>
              <a:rPr lang="pt-PT" i="1" dirty="0" err="1">
                <a:solidFill>
                  <a:schemeClr val="accent2"/>
                </a:solidFill>
                <a:latin typeface="Cambria"/>
                <a:ea typeface="Cambria"/>
                <a:cs typeface="Calibri"/>
              </a:rPr>
              <a:t>Pietro</a:t>
            </a:r>
            <a:r>
              <a:rPr lang="pt-PT" i="1" dirty="0">
                <a:solidFill>
                  <a:schemeClr val="accent2"/>
                </a:solidFill>
                <a:latin typeface="Cambria"/>
                <a:ea typeface="Cambria"/>
                <a:cs typeface="Calibri"/>
              </a:rPr>
              <a:t> Cardia Cordeiro</a:t>
            </a:r>
          </a:p>
          <a:p>
            <a:r>
              <a:rPr lang="pt-PT" i="1" dirty="0">
                <a:solidFill>
                  <a:schemeClr val="accent2"/>
                </a:solidFill>
                <a:latin typeface="Cambria"/>
                <a:ea typeface="Cambria"/>
                <a:cs typeface="Calibri"/>
              </a:rPr>
              <a:t>Rafael Rodrigues Lins</a:t>
            </a:r>
          </a:p>
          <a:p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REUSO DA LITERATURA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modelo base: PokeTree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73152" cy="5669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10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6654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Erik D. Demaine — professor de Ciência da Computação, MIT CSAIL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73152" cy="5669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679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93522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didático da disciplina 6.1210 · Introduction to Algorithms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73152" cy="5669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547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80390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Civet / TypeScript, Pug e Stylus — código aberto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73152" cy="5669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44165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67258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github.com/edemaine/poketree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92240" y="1828800"/>
            <a:ext cx="5120640" cy="3566160"/>
          </a:xfrm>
          <a:prstGeom prst="roundRect">
            <a:avLst>
              <a:gd name="adj" fmla="val 3077"/>
            </a:avLst>
          </a:prstGeom>
          <a:solidFill>
            <a:srgbClr val="F5F6F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12280" y="20848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NA LITERATURA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812280" y="23774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Search Tree Game (Plataforma 2D/3D)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31546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r>
              <a:rPr lang="en-US" sz="1400" b="1" i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140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i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</a:t>
            </a:r>
            <a:r>
              <a:rPr lang="en-US" sz="140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das </a:t>
            </a:r>
            <a:r>
              <a:rPr lang="en-US" sz="1400" b="1" i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</a:t>
            </a:r>
            <a:r>
              <a:rPr lang="en-US" sz="140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i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dependem</a:t>
            </a:r>
            <a:r>
              <a:rPr lang="en-US" sz="140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</a:t>
            </a:r>
            <a:r>
              <a:rPr lang="en-US" sz="1400" b="1" i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profundidade</a:t>
            </a:r>
            <a:r>
              <a:rPr lang="en-US" sz="140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i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sz="140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i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</a:t>
            </a:r>
            <a:r>
              <a:rPr lang="en-US" sz="140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1400" b="1" i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</a:t>
            </a:r>
            <a:r>
              <a:rPr lang="en-US" sz="140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 </a:t>
            </a:r>
            <a:r>
              <a:rPr lang="en-US" sz="1400" b="1" i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jogador</a:t>
            </a:r>
            <a:r>
              <a:rPr lang="en-US" sz="140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assume o </a:t>
            </a:r>
            <a:r>
              <a:rPr lang="en-US" sz="1400" b="1" i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</a:t>
            </a:r>
            <a:r>
              <a:rPr lang="en-US" sz="140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1400" b="1" i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</a:t>
            </a:r>
            <a:r>
              <a:rPr lang="en-US" sz="140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i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sz="140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1400" b="1" i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</a:t>
            </a:r>
            <a:r>
              <a:rPr lang="en-US" sz="140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b="1" i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</a:t>
            </a:r>
            <a:r>
              <a:rPr lang="en-US" sz="140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.”</a:t>
            </a:r>
            <a:endParaRPr lang="en-US" sz="1400" b="1" dirty="0"/>
          </a:p>
        </p:txBody>
      </p:sp>
      <p:sp>
        <p:nvSpPr>
          <p:cNvPr id="20" name="Shape 18"/>
          <p:cNvSpPr/>
          <p:nvPr/>
        </p:nvSpPr>
        <p:spPr>
          <a:xfrm>
            <a:off x="6812280" y="4160520"/>
            <a:ext cx="4160520" cy="0"/>
          </a:xfrm>
          <a:prstGeom prst="line">
            <a:avLst/>
          </a:prstGeom>
          <a:noFill/>
          <a:ln w="12700">
            <a:solidFill>
              <a:srgbClr val="DCE1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12280" y="4315968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PokeTree, cada Pokémon é um nó visual e os comandos manipulam a árvore diretamente — exatamente essa categoria.</a:t>
            </a:r>
            <a:endParaRPr lang="en-US" sz="1400" b="1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PokeTree · Modo Desafio de Balanceamento Ativo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39CDAF-AF12-D39F-96B7-4AB2B1B43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0D9AFBC-6D9E-94F6-AF42-396394467D79}"/>
              </a:ext>
            </a:extLst>
          </p:cNvPr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1 · Modelo de </a:t>
            </a:r>
            <a:r>
              <a:rPr lang="en-US" sz="1200" b="1" kern="0" spc="200" dirty="0" err="1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Árvore</a:t>
            </a:r>
            <a:r>
              <a:rPr lang="en-US" sz="1200" b="1" kern="0" spc="200" dirty="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 BST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75F781A-89C7-9DFC-6883-60D3DC36B5BB}"/>
              </a:ext>
            </a:extLst>
          </p:cNvPr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6233F"/>
                </a:solidFill>
                <a:latin typeface="Cambria"/>
                <a:ea typeface="Cambria"/>
                <a:cs typeface="Cambria" pitchFamily="34" charset="-120"/>
              </a:rPr>
              <a:t>O </a:t>
            </a:r>
            <a:r>
              <a:rPr lang="en-US" sz="3200" b="1" dirty="0" err="1">
                <a:solidFill>
                  <a:srgbClr val="16233F"/>
                </a:solidFill>
                <a:latin typeface="Cambria"/>
                <a:ea typeface="Cambria"/>
                <a:cs typeface="Cambria" pitchFamily="34" charset="-120"/>
              </a:rPr>
              <a:t>modelo</a:t>
            </a:r>
            <a:r>
              <a:rPr lang="en-US" sz="3200" b="1" dirty="0">
                <a:solidFill>
                  <a:srgbClr val="16233F"/>
                </a:solidFill>
                <a:latin typeface="Cambria"/>
                <a:ea typeface="Cambria"/>
                <a:cs typeface="Cambria" pitchFamily="34" charset="-120"/>
              </a:rPr>
              <a:t> base: </a:t>
            </a:r>
            <a:r>
              <a:rPr lang="en-US" sz="3200" b="1" dirty="0" err="1">
                <a:solidFill>
                  <a:srgbClr val="16233F"/>
                </a:solidFill>
                <a:latin typeface="Cambria"/>
                <a:ea typeface="Cambria"/>
                <a:cs typeface="Cambria" pitchFamily="34" charset="-120"/>
              </a:rPr>
              <a:t>PokeTree</a:t>
            </a:r>
            <a:r>
              <a:rPr lang="en-US" sz="3200" b="1" dirty="0">
                <a:solidFill>
                  <a:srgbClr val="16233F"/>
                </a:solidFill>
                <a:latin typeface="Cambria"/>
                <a:ea typeface="Cambria"/>
                <a:cs typeface="Cambria" pitchFamily="34" charset="-120"/>
              </a:rPr>
              <a:t> - BST</a:t>
            </a:r>
            <a:endParaRPr lang="en-US" sz="3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15107C5-AD84-1754-3FCF-A16532C7E9C1}"/>
              </a:ext>
            </a:extLst>
          </p:cNvPr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PokeTree · Modo Desafio de Balanceamento Ativo</a:t>
            </a:r>
            <a:endParaRPr lang="en-US" sz="9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EA929DE-AD95-8929-27B9-BC570168A573}"/>
              </a:ext>
            </a:extLst>
          </p:cNvPr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0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D09DD50-92C5-2A23-D675-B4A9F3F30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883" y="1532653"/>
            <a:ext cx="9018494" cy="4707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655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5DA4CF-CF16-947A-A7AB-2D0D680BE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EF5F046-D8F6-CB0E-2166-41A879308305}"/>
              </a:ext>
            </a:extLst>
          </p:cNvPr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1 · Modelo de </a:t>
            </a:r>
            <a:r>
              <a:rPr lang="en-US" sz="1200" b="1" kern="0" spc="200" dirty="0" err="1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Árvore</a:t>
            </a:r>
            <a:r>
              <a:rPr lang="en-US" sz="1200" b="1" kern="0" spc="200" dirty="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 AVL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24EB995-8C49-3BE3-DA68-63DAE98C75C8}"/>
              </a:ext>
            </a:extLst>
          </p:cNvPr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6233F"/>
                </a:solidFill>
                <a:latin typeface="Cambria"/>
                <a:ea typeface="Cambria"/>
                <a:cs typeface="Cambria" pitchFamily="34" charset="-120"/>
              </a:rPr>
              <a:t>O </a:t>
            </a:r>
            <a:r>
              <a:rPr lang="en-US" sz="3200" b="1" dirty="0" err="1">
                <a:solidFill>
                  <a:srgbClr val="16233F"/>
                </a:solidFill>
                <a:latin typeface="Cambria"/>
                <a:ea typeface="Cambria"/>
                <a:cs typeface="Cambria" pitchFamily="34" charset="-120"/>
              </a:rPr>
              <a:t>modelo</a:t>
            </a:r>
            <a:r>
              <a:rPr lang="en-US" sz="3200" b="1" dirty="0">
                <a:solidFill>
                  <a:srgbClr val="16233F"/>
                </a:solidFill>
                <a:latin typeface="Cambria"/>
                <a:ea typeface="Cambria"/>
                <a:cs typeface="Cambria" pitchFamily="34" charset="-120"/>
              </a:rPr>
              <a:t> base: </a:t>
            </a:r>
            <a:r>
              <a:rPr lang="en-US" sz="3200" b="1" dirty="0" err="1">
                <a:solidFill>
                  <a:srgbClr val="16233F"/>
                </a:solidFill>
                <a:latin typeface="Cambria"/>
                <a:ea typeface="Cambria"/>
                <a:cs typeface="Cambria" pitchFamily="34" charset="-120"/>
              </a:rPr>
              <a:t>PokeTree</a:t>
            </a:r>
            <a:r>
              <a:rPr lang="en-US" sz="3200" b="1" dirty="0">
                <a:solidFill>
                  <a:srgbClr val="16233F"/>
                </a:solidFill>
                <a:latin typeface="Cambria"/>
                <a:ea typeface="Cambria"/>
                <a:cs typeface="Cambria" pitchFamily="34" charset="-120"/>
              </a:rPr>
              <a:t> - AVL</a:t>
            </a:r>
            <a:endParaRPr lang="en-US" sz="3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4D2B19B-637E-CBE3-A5AD-F57DE691B327}"/>
              </a:ext>
            </a:extLst>
          </p:cNvPr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PokeTree · Modo Desafio de Balanceamento Ativo</a:t>
            </a:r>
            <a:endParaRPr lang="en-US" sz="9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1C9738FA-262C-1E65-1A0E-EBF200D85B62}"/>
              </a:ext>
            </a:extLst>
          </p:cNvPr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000" dirty="0"/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74774951-8B7A-54E5-EBBF-2AF681D64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882" y="1530121"/>
            <a:ext cx="9018495" cy="4703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188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ESTADO DA ARTE  ·  ANÁLISE CRÍTICA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falha que o jogo original evidencia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074920" cy="3794760"/>
          </a:xfrm>
          <a:prstGeom prst="roundRect">
            <a:avLst>
              <a:gd name="adj" fmla="val 2892"/>
            </a:avLst>
          </a:prstGeom>
          <a:solidFill>
            <a:srgbClr val="F5F6F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2860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6233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AVL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3464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Passividade do aluno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520440"/>
            <a:ext cx="4343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rebalanceamento acontece automaticamente e instantaneamente a cada inserção. O estudante observa o algoritmo agir, mas nunca decide quando ou qual rotação aplicar.</a:t>
            </a:r>
            <a:endParaRPr lang="en-US" sz="1600" b="1" dirty="0"/>
          </a:p>
        </p:txBody>
      </p:sp>
      <p:sp>
        <p:nvSpPr>
          <p:cNvPr id="9" name="Shape 7"/>
          <p:cNvSpPr/>
          <p:nvPr/>
        </p:nvSpPr>
        <p:spPr>
          <a:xfrm>
            <a:off x="914400" y="5029200"/>
            <a:ext cx="4343400" cy="0"/>
          </a:xfrm>
          <a:prstGeom prst="line">
            <a:avLst/>
          </a:prstGeom>
          <a:noFill/>
          <a:ln w="12700">
            <a:solidFill>
              <a:srgbClr val="DCE1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51663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decisão do jogador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965960"/>
            <a:ext cx="5074920" cy="3794760"/>
          </a:xfrm>
          <a:prstGeom prst="roundRect">
            <a:avLst>
              <a:gd name="adj" fmla="val 2892"/>
            </a:avLst>
          </a:prstGeom>
          <a:solidFill>
            <a:srgbClr val="F5F6F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29400" y="22860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2940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BST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283464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Ausência de feedback loop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3520440"/>
            <a:ext cx="4343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jogador pode inserir Pokémon em qualquer ordem — inclusive uma ordem que degenera a árvore — sem qualquer alerta, cor ou consequência no jogo.</a:t>
            </a:r>
            <a:endParaRPr lang="en-US" sz="1600" b="1" dirty="0"/>
          </a:p>
        </p:txBody>
      </p:sp>
      <p:sp>
        <p:nvSpPr>
          <p:cNvPr id="16" name="Shape 14"/>
          <p:cNvSpPr/>
          <p:nvPr/>
        </p:nvSpPr>
        <p:spPr>
          <a:xfrm>
            <a:off x="6629400" y="5029200"/>
            <a:ext cx="4343400" cy="0"/>
          </a:xfrm>
          <a:prstGeom prst="line">
            <a:avLst/>
          </a:prstGeom>
          <a:noFill/>
          <a:ln w="12700">
            <a:solidFill>
              <a:srgbClr val="DCE1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51663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punição para o pior caso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PokeTree · Modo Desafio de Balanceamento Ativo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REUSO E MELHORIA PROPOSTA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proposta: Modo Desafio de Balanceamento Ativo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novo modo, adicionado ao jogo sem alterar os modos BST e AVL originais, construído em três frentes:</a:t>
            </a:r>
            <a:endParaRPr lang="en-US" sz="1600" b="1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640080" cy="640080"/>
          </a:xfrm>
          <a:prstGeom prst="ellipse">
            <a:avLst/>
          </a:prstGeom>
          <a:solidFill>
            <a:srgbClr val="1623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13055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2130552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Exibir o Fator de Balanceamento (FB) de cada nó e um indicador visual de alerta de colapso.</a:t>
            </a:r>
            <a:endParaRPr lang="en-US" sz="1400" b="1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640080" cy="640080"/>
          </a:xfrm>
          <a:prstGeom prst="ellipse">
            <a:avLst/>
          </a:prstGeom>
          <a:solidFill>
            <a:srgbClr val="1623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548640" y="333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31927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Estilização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3319272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estado de </a:t>
            </a:r>
            <a:r>
              <a:rPr lang="en-US" sz="14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</a:t>
            </a:r>
            <a:r>
              <a:rPr lang="en-US" sz="13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cor e piscar — para todo nó com |FB| &gt; 1.</a:t>
            </a:r>
            <a:endParaRPr lang="en-US" sz="1300" b="1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640080" cy="640080"/>
          </a:xfrm>
          <a:prstGeom prst="ellipse">
            <a:avLst/>
          </a:prstGeom>
          <a:solidFill>
            <a:srgbClr val="1623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548640" y="4526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50799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Lógica de jogo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297680" y="4503034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 de segurança que impede novas inserções enquanto houver desbalanceamento. Por baixo dos panos, reaproveita os comandos de inserção sem rebalanceamento e rotação manual (r / l) do modo BST — sem alterá-lo.</a:t>
            </a:r>
            <a:endParaRPr lang="en-US" sz="1400" b="1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PokeTree · Modo Desafio de Balanceamento Ativo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RIGOR TEÓRICO (ED II)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conceito por trás da mecânica: Fator de Balanceamento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4480560" cy="3794760"/>
          </a:xfrm>
          <a:prstGeom prst="roundRect">
            <a:avLst>
              <a:gd name="adj" fmla="val 2892"/>
            </a:avLst>
          </a:prstGeom>
          <a:solidFill>
            <a:srgbClr val="1623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868680" y="2240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(AVL)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060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FB(nó) = altura(direita) − altura(esquerda)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6118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|FB| ≤ 1  </a:t>
            </a:r>
            <a:r>
              <a:rPr lang="en-US" sz="140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nó balanceado
</a:t>
            </a: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|FB| &gt; 1  </a:t>
            </a:r>
            <a:r>
              <a:rPr lang="en-US" sz="140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propriedade AVL violada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4572000"/>
            <a:ext cx="3840480" cy="0"/>
          </a:xfrm>
          <a:prstGeom prst="line">
            <a:avLst/>
          </a:prstGeom>
          <a:noFill/>
          <a:ln w="12700">
            <a:solidFill>
              <a:srgbClr val="2233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868680" y="44805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9B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altura de cada nó já é calculada recursivamente pelo jogo original — reaproveitamos essa base, sem recriar a árvore.</a:t>
            </a:r>
            <a:endParaRPr lang="en-US" sz="1400" b="1" dirty="0"/>
          </a:p>
        </p:txBody>
      </p:sp>
      <p:sp>
        <p:nvSpPr>
          <p:cNvPr id="10" name="Shape 8"/>
          <p:cNvSpPr/>
          <p:nvPr/>
        </p:nvSpPr>
        <p:spPr>
          <a:xfrm>
            <a:off x="7360920" y="2761488"/>
            <a:ext cx="1417320" cy="283464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8778240" y="3813048"/>
            <a:ext cx="1417320" cy="283464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976872" y="1993392"/>
            <a:ext cx="768096" cy="768096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976872" y="19933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818120" y="223113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FB=+2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394192" y="3044952"/>
            <a:ext cx="768096" cy="768096"/>
          </a:xfrm>
          <a:prstGeom prst="ellipse">
            <a:avLst/>
          </a:prstGeom>
          <a:solidFill>
            <a:srgbClr val="F5F6F8"/>
          </a:solidFill>
          <a:ln w="19050">
            <a:solidFill>
              <a:srgbClr val="DC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8394192" y="304495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235440" y="328269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FB=+1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811512" y="4096512"/>
            <a:ext cx="768096" cy="768096"/>
          </a:xfrm>
          <a:prstGeom prst="ellipse">
            <a:avLst/>
          </a:prstGeom>
          <a:solidFill>
            <a:srgbClr val="F5F6F8"/>
          </a:solidFill>
          <a:ln w="19050">
            <a:solidFill>
              <a:srgbClr val="DC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9811512" y="409651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652760" y="433425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FB=0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5532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Inserções em sequência crescente (10 → 20 → 30) geram o caso RR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PokeTree · Modo Desafio de Balanceamento Ativo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PROPRIEDADES ALGORÍTMICAS EM MECÂNICA ATIVA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algoritmo à mecânica de jogo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cor é decorativa: cada propriedade do FB controla diretamente uma regra observável do jogo.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0789920" cy="457200"/>
          </a:xfrm>
          <a:prstGeom prst="rect">
            <a:avLst/>
          </a:prstGeom>
          <a:solidFill>
            <a:srgbClr val="1623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685800" y="1965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DE ED II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1965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 NO JOGO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909560" y="19659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ATIVADA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10789920" cy="566928"/>
          </a:xfrm>
          <a:prstGeom prst="rect">
            <a:avLst/>
          </a:prstGeom>
          <a:solidFill>
            <a:srgbClr val="F5F6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685800" y="2459736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|FB| ≤ 1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(nó balanceado)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2459736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alteração visual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909560" y="2459736"/>
            <a:ext cx="3337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Inserção liberada normalmente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990088"/>
            <a:ext cx="10789920" cy="0"/>
          </a:xfrm>
          <a:prstGeom prst="line">
            <a:avLst/>
          </a:prstGeom>
          <a:noFill/>
          <a:ln w="9525">
            <a:solidFill>
              <a:srgbClr val="DC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685800" y="3026664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|FB| = 1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(alerta preventivo)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3026664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 em amarelo/laranja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909560" y="3026664"/>
            <a:ext cx="3337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ao jogador, sem bloqueio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557016"/>
            <a:ext cx="10789920" cy="0"/>
          </a:xfrm>
          <a:prstGeom prst="line">
            <a:avLst/>
          </a:prstGeom>
          <a:noFill/>
          <a:ln w="9525">
            <a:solidFill>
              <a:srgbClr val="DC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548640" y="3557016"/>
            <a:ext cx="10789920" cy="566928"/>
          </a:xfrm>
          <a:prstGeom prst="rect">
            <a:avLst/>
          </a:prstGeom>
          <a:solidFill>
            <a:srgbClr val="F5F6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685800" y="3593592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|FB| &gt; 1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(propriedade violada)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297680" y="3593592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 pisca em vermelho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909560" y="3593592"/>
            <a:ext cx="3337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 “insert” é bloqueado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123944"/>
            <a:ext cx="10789920" cy="0"/>
          </a:xfrm>
          <a:prstGeom prst="line">
            <a:avLst/>
          </a:prstGeom>
          <a:noFill/>
          <a:ln w="9525">
            <a:solidFill>
              <a:srgbClr val="DC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685800" y="4160520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Rotação simples (LL / RR)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297680" y="4160520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execução de r / l resolve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909560" y="4160520"/>
            <a:ext cx="3337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alerta é removido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690872"/>
            <a:ext cx="10789920" cy="0"/>
          </a:xfrm>
          <a:prstGeom prst="line">
            <a:avLst/>
          </a:prstGeom>
          <a:noFill/>
          <a:ln w="9525">
            <a:solidFill>
              <a:srgbClr val="DC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548640" y="4690872"/>
            <a:ext cx="10789920" cy="566928"/>
          </a:xfrm>
          <a:prstGeom prst="rect">
            <a:avLst/>
          </a:prstGeom>
          <a:solidFill>
            <a:srgbClr val="F5F6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685800" y="4727448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Rotação dupla (LR / RL)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297680" y="4727448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rotações, ordem correta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7909560" y="4727448"/>
            <a:ext cx="3337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errada mantém o alerta ativo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5257800"/>
            <a:ext cx="10789920" cy="0"/>
          </a:xfrm>
          <a:prstGeom prst="line">
            <a:avLst/>
          </a:prstGeom>
          <a:noFill/>
          <a:ln w="9525">
            <a:solidFill>
              <a:srgbClr val="DC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685800" y="5294376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Desbalanceamento ignorado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N turnos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4297680" y="5294376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 de turnos em risco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7909560" y="5294376"/>
            <a:ext cx="3337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Colapso: condição de derrota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48640" y="5824728"/>
            <a:ext cx="10789920" cy="0"/>
          </a:xfrm>
          <a:prstGeom prst="line">
            <a:avLst/>
          </a:prstGeom>
          <a:noFill/>
          <a:ln w="9525">
            <a:solidFill>
              <a:srgbClr val="DC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PokeTree · Modo Desafio de Balanceamento Ativo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 ·  ROTEIRO DE COMANDOS NO JOGO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ao vivo: 5 atos</a:t>
            </a:r>
            <a:endParaRPr lang="en-US" sz="3000" dirty="0"/>
          </a:p>
        </p:txBody>
      </p: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C61DC993-E5B5-5308-B0BA-97B6F8608F6D}"/>
              </a:ext>
            </a:extLst>
          </p:cNvPr>
          <p:cNvGrpSpPr/>
          <p:nvPr/>
        </p:nvGrpSpPr>
        <p:grpSpPr>
          <a:xfrm>
            <a:off x="548640" y="2011680"/>
            <a:ext cx="2121408" cy="3840480"/>
            <a:chOff x="548640" y="2011680"/>
            <a:chExt cx="2121408" cy="3840480"/>
          </a:xfrm>
        </p:grpSpPr>
        <p:sp>
          <p:nvSpPr>
            <p:cNvPr id="4" name="Shape 2"/>
            <p:cNvSpPr/>
            <p:nvPr/>
          </p:nvSpPr>
          <p:spPr>
            <a:xfrm>
              <a:off x="548640" y="2011680"/>
              <a:ext cx="2121408" cy="3840480"/>
            </a:xfrm>
            <a:prstGeom prst="roundRect">
              <a:avLst>
                <a:gd name="adj" fmla="val 4310"/>
              </a:avLst>
            </a:prstGeom>
            <a:solidFill>
              <a:srgbClr val="F5F6F8"/>
            </a:solidFill>
            <a:ln w="12700">
              <a:solidFill>
                <a:srgbClr val="DCE1E8"/>
              </a:solidFill>
              <a:prstDash val="solid"/>
            </a:ln>
          </p:spPr>
        </p:sp>
        <p:sp>
          <p:nvSpPr>
            <p:cNvPr id="5" name="Text 3"/>
            <p:cNvSpPr txBox="1"/>
            <p:nvPr/>
          </p:nvSpPr>
          <p:spPr>
            <a:xfrm>
              <a:off x="731520" y="2240280"/>
              <a:ext cx="175564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kern="0" spc="150" dirty="0">
                  <a:solidFill>
                    <a:srgbClr val="E8A3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ATO 1</a:t>
              </a:r>
              <a:endParaRPr lang="en-US" sz="1050" dirty="0"/>
            </a:p>
          </p:txBody>
        </p:sp>
        <p:sp>
          <p:nvSpPr>
            <p:cNvPr id="6" name="Text 4"/>
            <p:cNvSpPr txBox="1"/>
            <p:nvPr/>
          </p:nvSpPr>
          <p:spPr>
            <a:xfrm>
              <a:off x="731520" y="2542032"/>
              <a:ext cx="175564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6233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Caso RR</a:t>
              </a:r>
              <a:endParaRPr lang="en-US" sz="16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731520" y="3200400"/>
              <a:ext cx="1755648" cy="0"/>
            </a:xfrm>
            <a:prstGeom prst="line">
              <a:avLst/>
            </a:prstGeom>
            <a:noFill/>
            <a:ln w="12700">
              <a:solidFill>
                <a:srgbClr val="DCE1E8"/>
              </a:solidFill>
              <a:prstDash val="solid"/>
            </a:ln>
          </p:spPr>
        </p:sp>
        <p:sp>
          <p:nvSpPr>
            <p:cNvPr id="8" name="Text 6"/>
            <p:cNvSpPr txBox="1"/>
            <p:nvPr/>
          </p:nvSpPr>
          <p:spPr>
            <a:xfrm>
              <a:off x="731520" y="3337560"/>
              <a:ext cx="175564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5B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COMANDOS</a:t>
              </a:r>
              <a:endParaRPr lang="en-US" sz="900" dirty="0"/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731520" y="3566160"/>
              <a:ext cx="1755648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100" dirty="0">
                  <a:solidFill>
                    <a:srgbClr val="16233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i 10 → i 20 → i 30</a:t>
              </a:r>
              <a:endParaRPr lang="en-US" sz="1100" dirty="0"/>
            </a:p>
          </p:txBody>
        </p:sp>
        <p:sp>
          <p:nvSpPr>
            <p:cNvPr id="10" name="Text 8"/>
            <p:cNvSpPr txBox="1"/>
            <p:nvPr/>
          </p:nvSpPr>
          <p:spPr>
            <a:xfrm>
              <a:off x="731520" y="4892040"/>
              <a:ext cx="175564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5B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CORREÇÃO</a:t>
              </a:r>
              <a:endParaRPr lang="en-US" sz="900" dirty="0"/>
            </a:p>
          </p:txBody>
        </p:sp>
        <p:sp>
          <p:nvSpPr>
            <p:cNvPr id="11" name="Text 9"/>
            <p:cNvSpPr txBox="1"/>
            <p:nvPr/>
          </p:nvSpPr>
          <p:spPr>
            <a:xfrm>
              <a:off x="731520" y="5120640"/>
              <a:ext cx="1755648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050" b="1" dirty="0">
                  <a:solidFill>
                    <a:srgbClr val="2E7D32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corrige com  l 10</a:t>
              </a:r>
              <a:endParaRPr lang="en-US" sz="1050" dirty="0"/>
            </a:p>
          </p:txBody>
        </p:sp>
      </p:grpSp>
      <p:grpSp>
        <p:nvGrpSpPr>
          <p:cNvPr id="48" name="Agrupar 47">
            <a:extLst>
              <a:ext uri="{FF2B5EF4-FFF2-40B4-BE49-F238E27FC236}">
                <a16:creationId xmlns:a16="http://schemas.microsoft.com/office/drawing/2014/main" id="{D9F3C390-1D3F-09DA-5064-89EE208A4526}"/>
              </a:ext>
            </a:extLst>
          </p:cNvPr>
          <p:cNvGrpSpPr/>
          <p:nvPr/>
        </p:nvGrpSpPr>
        <p:grpSpPr>
          <a:xfrm>
            <a:off x="2724912" y="2011680"/>
            <a:ext cx="2121408" cy="3840480"/>
            <a:chOff x="2724912" y="2011680"/>
            <a:chExt cx="2121408" cy="3840480"/>
          </a:xfrm>
        </p:grpSpPr>
        <p:sp>
          <p:nvSpPr>
            <p:cNvPr id="12" name="Shape 10"/>
            <p:cNvSpPr/>
            <p:nvPr/>
          </p:nvSpPr>
          <p:spPr>
            <a:xfrm>
              <a:off x="2724912" y="2011680"/>
              <a:ext cx="2121408" cy="3840480"/>
            </a:xfrm>
            <a:prstGeom prst="roundRect">
              <a:avLst>
                <a:gd name="adj" fmla="val 4310"/>
              </a:avLst>
            </a:prstGeom>
            <a:solidFill>
              <a:srgbClr val="F5F6F8"/>
            </a:solidFill>
            <a:ln w="12700">
              <a:solidFill>
                <a:srgbClr val="DCE1E8"/>
              </a:solidFill>
              <a:prstDash val="solid"/>
            </a:ln>
          </p:spPr>
        </p:sp>
        <p:sp>
          <p:nvSpPr>
            <p:cNvPr id="13" name="Text 11"/>
            <p:cNvSpPr txBox="1"/>
            <p:nvPr/>
          </p:nvSpPr>
          <p:spPr>
            <a:xfrm>
              <a:off x="2907792" y="2240280"/>
              <a:ext cx="175564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kern="0" spc="150" dirty="0">
                  <a:solidFill>
                    <a:srgbClr val="E8A3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ATO 2</a:t>
              </a:r>
              <a:endParaRPr lang="en-US" sz="1050" dirty="0"/>
            </a:p>
          </p:txBody>
        </p:sp>
        <p:sp>
          <p:nvSpPr>
            <p:cNvPr id="14" name="Text 12"/>
            <p:cNvSpPr txBox="1"/>
            <p:nvPr/>
          </p:nvSpPr>
          <p:spPr>
            <a:xfrm>
              <a:off x="2907792" y="2542032"/>
              <a:ext cx="175564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6233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Caso LL</a:t>
              </a:r>
              <a:endParaRPr lang="en-US" sz="16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2907792" y="3200400"/>
              <a:ext cx="1755648" cy="0"/>
            </a:xfrm>
            <a:prstGeom prst="line">
              <a:avLst/>
            </a:prstGeom>
            <a:noFill/>
            <a:ln w="12700">
              <a:solidFill>
                <a:srgbClr val="DCE1E8"/>
              </a:solidFill>
              <a:prstDash val="solid"/>
            </a:ln>
          </p:spPr>
        </p:sp>
        <p:sp>
          <p:nvSpPr>
            <p:cNvPr id="16" name="Text 14"/>
            <p:cNvSpPr txBox="1"/>
            <p:nvPr/>
          </p:nvSpPr>
          <p:spPr>
            <a:xfrm>
              <a:off x="2907792" y="3337560"/>
              <a:ext cx="175564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5B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COMANDOS</a:t>
              </a:r>
              <a:endParaRPr lang="en-US" sz="900" dirty="0"/>
            </a:p>
          </p:txBody>
        </p:sp>
        <p:sp>
          <p:nvSpPr>
            <p:cNvPr id="17" name="Text 15"/>
            <p:cNvSpPr txBox="1"/>
            <p:nvPr/>
          </p:nvSpPr>
          <p:spPr>
            <a:xfrm>
              <a:off x="2907792" y="3566160"/>
              <a:ext cx="1755648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100" dirty="0">
                  <a:solidFill>
                    <a:srgbClr val="16233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i 30 → i 20 → i 10</a:t>
              </a:r>
              <a:endParaRPr lang="en-US" sz="1100" dirty="0"/>
            </a:p>
          </p:txBody>
        </p:sp>
        <p:sp>
          <p:nvSpPr>
            <p:cNvPr id="18" name="Text 16"/>
            <p:cNvSpPr txBox="1"/>
            <p:nvPr/>
          </p:nvSpPr>
          <p:spPr>
            <a:xfrm>
              <a:off x="2907792" y="4892040"/>
              <a:ext cx="175564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5B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CORREÇÃO</a:t>
              </a:r>
              <a:endParaRPr lang="en-US" sz="900" dirty="0"/>
            </a:p>
          </p:txBody>
        </p:sp>
        <p:sp>
          <p:nvSpPr>
            <p:cNvPr id="19" name="Text 17"/>
            <p:cNvSpPr txBox="1"/>
            <p:nvPr/>
          </p:nvSpPr>
          <p:spPr>
            <a:xfrm>
              <a:off x="2907792" y="5120640"/>
              <a:ext cx="1755648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050" b="1" dirty="0">
                  <a:solidFill>
                    <a:srgbClr val="2E7D32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corrige com  r 30</a:t>
              </a:r>
              <a:endParaRPr lang="en-US" sz="1050" dirty="0"/>
            </a:p>
          </p:txBody>
        </p:sp>
      </p:grpSp>
      <p:grpSp>
        <p:nvGrpSpPr>
          <p:cNvPr id="47" name="Agrupar 46">
            <a:extLst>
              <a:ext uri="{FF2B5EF4-FFF2-40B4-BE49-F238E27FC236}">
                <a16:creationId xmlns:a16="http://schemas.microsoft.com/office/drawing/2014/main" id="{77FF475A-4E70-8704-A154-BC01829372F4}"/>
              </a:ext>
            </a:extLst>
          </p:cNvPr>
          <p:cNvGrpSpPr/>
          <p:nvPr/>
        </p:nvGrpSpPr>
        <p:grpSpPr>
          <a:xfrm>
            <a:off x="4901184" y="2011680"/>
            <a:ext cx="2121408" cy="3840480"/>
            <a:chOff x="4901184" y="2011680"/>
            <a:chExt cx="2121408" cy="3840480"/>
          </a:xfrm>
        </p:grpSpPr>
        <p:sp>
          <p:nvSpPr>
            <p:cNvPr id="20" name="Shape 18"/>
            <p:cNvSpPr/>
            <p:nvPr/>
          </p:nvSpPr>
          <p:spPr>
            <a:xfrm>
              <a:off x="4901184" y="2011680"/>
              <a:ext cx="2121408" cy="3840480"/>
            </a:xfrm>
            <a:prstGeom prst="roundRect">
              <a:avLst>
                <a:gd name="adj" fmla="val 4310"/>
              </a:avLst>
            </a:prstGeom>
            <a:solidFill>
              <a:srgbClr val="F5F6F8"/>
            </a:solidFill>
            <a:ln w="12700">
              <a:solidFill>
                <a:srgbClr val="DCE1E8"/>
              </a:solidFill>
              <a:prstDash val="solid"/>
            </a:ln>
          </p:spPr>
        </p:sp>
        <p:sp>
          <p:nvSpPr>
            <p:cNvPr id="21" name="Text 19"/>
            <p:cNvSpPr txBox="1"/>
            <p:nvPr/>
          </p:nvSpPr>
          <p:spPr>
            <a:xfrm>
              <a:off x="5084064" y="2240280"/>
              <a:ext cx="175564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kern="0" spc="150" dirty="0">
                  <a:solidFill>
                    <a:srgbClr val="E8A3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ATO 3</a:t>
              </a:r>
              <a:endParaRPr lang="en-US" sz="1050" dirty="0"/>
            </a:p>
          </p:txBody>
        </p:sp>
        <p:sp>
          <p:nvSpPr>
            <p:cNvPr id="22" name="Text 20"/>
            <p:cNvSpPr txBox="1"/>
            <p:nvPr/>
          </p:nvSpPr>
          <p:spPr>
            <a:xfrm>
              <a:off x="5084064" y="2542032"/>
              <a:ext cx="175564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6233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Caso duplo LR</a:t>
              </a:r>
              <a:endParaRPr lang="en-US" sz="16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5084064" y="3200400"/>
              <a:ext cx="1755648" cy="0"/>
            </a:xfrm>
            <a:prstGeom prst="line">
              <a:avLst/>
            </a:prstGeom>
            <a:noFill/>
            <a:ln w="12700">
              <a:solidFill>
                <a:srgbClr val="DCE1E8"/>
              </a:solidFill>
              <a:prstDash val="solid"/>
            </a:ln>
          </p:spPr>
        </p:sp>
        <p:sp>
          <p:nvSpPr>
            <p:cNvPr id="24" name="Text 22"/>
            <p:cNvSpPr txBox="1"/>
            <p:nvPr/>
          </p:nvSpPr>
          <p:spPr>
            <a:xfrm>
              <a:off x="5084064" y="3337560"/>
              <a:ext cx="175564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5B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COMANDOS</a:t>
              </a:r>
              <a:endParaRPr lang="en-US" sz="900" dirty="0"/>
            </a:p>
          </p:txBody>
        </p:sp>
        <p:sp>
          <p:nvSpPr>
            <p:cNvPr id="25" name="Text 23"/>
            <p:cNvSpPr txBox="1"/>
            <p:nvPr/>
          </p:nvSpPr>
          <p:spPr>
            <a:xfrm>
              <a:off x="5084064" y="3566160"/>
              <a:ext cx="1755648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100" dirty="0">
                  <a:solidFill>
                    <a:srgbClr val="16233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i 30 → i 10 → i 20</a:t>
              </a:r>
              <a:endParaRPr lang="en-US" sz="1100" dirty="0"/>
            </a:p>
          </p:txBody>
        </p:sp>
        <p:sp>
          <p:nvSpPr>
            <p:cNvPr id="26" name="Text 24"/>
            <p:cNvSpPr txBox="1"/>
            <p:nvPr/>
          </p:nvSpPr>
          <p:spPr>
            <a:xfrm>
              <a:off x="5084064" y="4892040"/>
              <a:ext cx="175564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5B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CORREÇÃO</a:t>
              </a:r>
              <a:endParaRPr lang="en-US" sz="900" dirty="0"/>
            </a:p>
          </p:txBody>
        </p:sp>
        <p:sp>
          <p:nvSpPr>
            <p:cNvPr id="27" name="Text 25"/>
            <p:cNvSpPr txBox="1"/>
            <p:nvPr/>
          </p:nvSpPr>
          <p:spPr>
            <a:xfrm>
              <a:off x="5084064" y="5120640"/>
              <a:ext cx="1755648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050" b="1" dirty="0">
                  <a:solidFill>
                    <a:srgbClr val="2E7D32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corrige com  l 10  depois  r 30</a:t>
              </a:r>
              <a:endParaRPr lang="en-US" sz="1050" dirty="0"/>
            </a:p>
          </p:txBody>
        </p:sp>
      </p:grpSp>
      <p:grpSp>
        <p:nvGrpSpPr>
          <p:cNvPr id="50" name="Agrupar 49">
            <a:extLst>
              <a:ext uri="{FF2B5EF4-FFF2-40B4-BE49-F238E27FC236}">
                <a16:creationId xmlns:a16="http://schemas.microsoft.com/office/drawing/2014/main" id="{0E526C54-977C-DE2F-D634-02C86B77DEE7}"/>
              </a:ext>
            </a:extLst>
          </p:cNvPr>
          <p:cNvGrpSpPr/>
          <p:nvPr/>
        </p:nvGrpSpPr>
        <p:grpSpPr>
          <a:xfrm>
            <a:off x="7077456" y="2011680"/>
            <a:ext cx="2121408" cy="3840480"/>
            <a:chOff x="7077456" y="2011680"/>
            <a:chExt cx="2121408" cy="3840480"/>
          </a:xfrm>
        </p:grpSpPr>
        <p:sp>
          <p:nvSpPr>
            <p:cNvPr id="28" name="Shape 26"/>
            <p:cNvSpPr/>
            <p:nvPr/>
          </p:nvSpPr>
          <p:spPr>
            <a:xfrm>
              <a:off x="7077456" y="2011680"/>
              <a:ext cx="2121408" cy="3840480"/>
            </a:xfrm>
            <a:prstGeom prst="roundRect">
              <a:avLst>
                <a:gd name="adj" fmla="val 4310"/>
              </a:avLst>
            </a:prstGeom>
            <a:solidFill>
              <a:srgbClr val="F5F6F8"/>
            </a:solidFill>
            <a:ln w="12700">
              <a:solidFill>
                <a:srgbClr val="DCE1E8"/>
              </a:solidFill>
              <a:prstDash val="solid"/>
            </a:ln>
          </p:spPr>
        </p:sp>
        <p:sp>
          <p:nvSpPr>
            <p:cNvPr id="29" name="Text 27"/>
            <p:cNvSpPr txBox="1"/>
            <p:nvPr/>
          </p:nvSpPr>
          <p:spPr>
            <a:xfrm>
              <a:off x="7260336" y="2240280"/>
              <a:ext cx="175564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kern="0" spc="150" dirty="0">
                  <a:solidFill>
                    <a:srgbClr val="E8A3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ATO 4</a:t>
              </a:r>
              <a:endParaRPr lang="en-US" sz="1050" dirty="0"/>
            </a:p>
          </p:txBody>
        </p:sp>
        <p:sp>
          <p:nvSpPr>
            <p:cNvPr id="30" name="Text 28"/>
            <p:cNvSpPr txBox="1"/>
            <p:nvPr/>
          </p:nvSpPr>
          <p:spPr>
            <a:xfrm>
              <a:off x="7260336" y="2542032"/>
              <a:ext cx="175564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6233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Caso duplo RL</a:t>
              </a:r>
              <a:endParaRPr lang="en-US" sz="16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7260336" y="3200400"/>
              <a:ext cx="1755648" cy="0"/>
            </a:xfrm>
            <a:prstGeom prst="line">
              <a:avLst/>
            </a:prstGeom>
            <a:noFill/>
            <a:ln w="12700">
              <a:solidFill>
                <a:srgbClr val="DCE1E8"/>
              </a:solidFill>
              <a:prstDash val="solid"/>
            </a:ln>
          </p:spPr>
        </p:sp>
        <p:sp>
          <p:nvSpPr>
            <p:cNvPr id="32" name="Text 30"/>
            <p:cNvSpPr txBox="1"/>
            <p:nvPr/>
          </p:nvSpPr>
          <p:spPr>
            <a:xfrm>
              <a:off x="7260336" y="3337560"/>
              <a:ext cx="175564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5B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COMANDOS</a:t>
              </a:r>
              <a:endParaRPr lang="en-US" sz="900" dirty="0"/>
            </a:p>
          </p:txBody>
        </p:sp>
        <p:sp>
          <p:nvSpPr>
            <p:cNvPr id="33" name="Text 31"/>
            <p:cNvSpPr txBox="1"/>
            <p:nvPr/>
          </p:nvSpPr>
          <p:spPr>
            <a:xfrm>
              <a:off x="7260336" y="3566160"/>
              <a:ext cx="1755648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100" dirty="0">
                  <a:solidFill>
                    <a:srgbClr val="16233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i 10 → i 30 → i 20</a:t>
              </a:r>
              <a:endParaRPr lang="en-US" sz="1100" dirty="0"/>
            </a:p>
          </p:txBody>
        </p:sp>
        <p:sp>
          <p:nvSpPr>
            <p:cNvPr id="34" name="Text 32"/>
            <p:cNvSpPr txBox="1"/>
            <p:nvPr/>
          </p:nvSpPr>
          <p:spPr>
            <a:xfrm>
              <a:off x="7260336" y="4892040"/>
              <a:ext cx="175564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5B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CORREÇÃO</a:t>
              </a:r>
              <a:endParaRPr lang="en-US" sz="900" dirty="0"/>
            </a:p>
          </p:txBody>
        </p:sp>
        <p:sp>
          <p:nvSpPr>
            <p:cNvPr id="35" name="Text 33"/>
            <p:cNvSpPr txBox="1"/>
            <p:nvPr/>
          </p:nvSpPr>
          <p:spPr>
            <a:xfrm>
              <a:off x="7260336" y="5120640"/>
              <a:ext cx="1755648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050" b="1" dirty="0">
                  <a:solidFill>
                    <a:srgbClr val="2E7D32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corrige com  r 30  depois  l 10</a:t>
              </a:r>
              <a:endParaRPr lang="en-US" sz="1050" dirty="0"/>
            </a:p>
          </p:txBody>
        </p:sp>
      </p:grp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5AE17E5C-0AEE-37DD-02A4-87860294B158}"/>
              </a:ext>
            </a:extLst>
          </p:cNvPr>
          <p:cNvGrpSpPr/>
          <p:nvPr/>
        </p:nvGrpSpPr>
        <p:grpSpPr>
          <a:xfrm>
            <a:off x="9253728" y="2011680"/>
            <a:ext cx="2121408" cy="3840480"/>
            <a:chOff x="9253728" y="2011680"/>
            <a:chExt cx="2121408" cy="3840480"/>
          </a:xfrm>
        </p:grpSpPr>
        <p:sp>
          <p:nvSpPr>
            <p:cNvPr id="36" name="Shape 34"/>
            <p:cNvSpPr/>
            <p:nvPr/>
          </p:nvSpPr>
          <p:spPr>
            <a:xfrm>
              <a:off x="9253728" y="2011680"/>
              <a:ext cx="2121408" cy="3840480"/>
            </a:xfrm>
            <a:prstGeom prst="roundRect">
              <a:avLst>
                <a:gd name="adj" fmla="val 4310"/>
              </a:avLst>
            </a:prstGeom>
            <a:solidFill>
              <a:srgbClr val="C62828"/>
            </a:solidFill>
            <a:ln w="12700">
              <a:solidFill>
                <a:srgbClr val="C62828"/>
              </a:solidFill>
              <a:prstDash val="solid"/>
            </a:ln>
          </p:spPr>
        </p:sp>
        <p:sp>
          <p:nvSpPr>
            <p:cNvPr id="37" name="Text 35"/>
            <p:cNvSpPr txBox="1"/>
            <p:nvPr/>
          </p:nvSpPr>
          <p:spPr>
            <a:xfrm>
              <a:off x="9436608" y="2240280"/>
              <a:ext cx="175564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kern="0" spc="150" dirty="0">
                  <a:solidFill>
                    <a:srgbClr val="FFE0E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ATO 5</a:t>
              </a:r>
              <a:endParaRPr lang="en-US" sz="1050" dirty="0"/>
            </a:p>
          </p:txBody>
        </p:sp>
        <p:sp>
          <p:nvSpPr>
            <p:cNvPr id="38" name="Text 36"/>
            <p:cNvSpPr txBox="1"/>
            <p:nvPr/>
          </p:nvSpPr>
          <p:spPr>
            <a:xfrm>
              <a:off x="9436608" y="2542032"/>
              <a:ext cx="175564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Pior caso O(n)</a:t>
              </a:r>
              <a:endParaRPr lang="en-US" sz="16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9436608" y="3200400"/>
              <a:ext cx="1755648" cy="0"/>
            </a:xfrm>
            <a:prstGeom prst="line">
              <a:avLst/>
            </a:prstGeom>
            <a:noFill/>
            <a:ln w="12700">
              <a:solidFill>
                <a:srgbClr val="E57373"/>
              </a:solidFill>
              <a:prstDash val="solid"/>
            </a:ln>
          </p:spPr>
        </p:sp>
        <p:sp>
          <p:nvSpPr>
            <p:cNvPr id="40" name="Text 38"/>
            <p:cNvSpPr txBox="1"/>
            <p:nvPr/>
          </p:nvSpPr>
          <p:spPr>
            <a:xfrm>
              <a:off x="9436608" y="3337560"/>
              <a:ext cx="175564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FFE0E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COMANDOS</a:t>
              </a:r>
              <a:endParaRPr lang="en-US" sz="900" dirty="0"/>
            </a:p>
          </p:txBody>
        </p:sp>
        <p:sp>
          <p:nvSpPr>
            <p:cNvPr id="41" name="Text 39"/>
            <p:cNvSpPr txBox="1"/>
            <p:nvPr/>
          </p:nvSpPr>
          <p:spPr>
            <a:xfrm>
              <a:off x="9436608" y="3566160"/>
              <a:ext cx="1755648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100" dirty="0">
                  <a:solidFill>
                    <a:srgbClr val="FFFFF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i 1 → i 2 → i 3 → i 4 → i 5</a:t>
              </a:r>
              <a:endParaRPr lang="en-US" sz="1100" dirty="0"/>
            </a:p>
          </p:txBody>
        </p:sp>
        <p:sp>
          <p:nvSpPr>
            <p:cNvPr id="42" name="Text 40"/>
            <p:cNvSpPr txBox="1"/>
            <p:nvPr/>
          </p:nvSpPr>
          <p:spPr>
            <a:xfrm>
              <a:off x="9436608" y="4892040"/>
              <a:ext cx="175564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FFE0E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CORREÇÃO</a:t>
              </a:r>
              <a:endParaRPr lang="en-US" sz="900" dirty="0"/>
            </a:p>
          </p:txBody>
        </p:sp>
        <p:sp>
          <p:nvSpPr>
            <p:cNvPr id="43" name="Text 41"/>
            <p:cNvSpPr txBox="1"/>
            <p:nvPr/>
          </p:nvSpPr>
          <p:spPr>
            <a:xfrm>
              <a:off x="9436608" y="5120640"/>
              <a:ext cx="1755648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corrige com  l 1  depois  l 3</a:t>
              </a:r>
              <a:endParaRPr lang="en-US" sz="1050" dirty="0"/>
            </a:p>
          </p:txBody>
        </p:sp>
      </p:grpSp>
      <p:sp>
        <p:nvSpPr>
          <p:cNvPr id="44" name="Text 42"/>
          <p:cNvSpPr txBox="1"/>
          <p:nvPr/>
        </p:nvSpPr>
        <p:spPr>
          <a:xfrm>
            <a:off x="548640" y="6035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do Desafio AVL, executada sobre a base do modo BST · checkbox “heights” marcado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PokeTree · Modo Desafio de Balanceamento Ativo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ea typeface="Calibri"/>
                <a:cs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CCA4A-7DF9-9177-D80E-69DA47A08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6686B90-4B7A-FA04-921F-927AA2FC4401}"/>
              </a:ext>
            </a:extLst>
          </p:cNvPr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 ·  ROTEIRO DE COMANDOS NO JOGO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D56C59E-CAEE-23E7-5EBD-BD3D12390FE5}"/>
              </a:ext>
            </a:extLst>
          </p:cNvPr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ao vivo: 5 atos</a:t>
            </a:r>
            <a:endParaRPr lang="en-US" sz="3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B5E18F7-C807-40DF-F40F-71A52B96EF77}"/>
              </a:ext>
            </a:extLst>
          </p:cNvPr>
          <p:cNvSpPr/>
          <p:nvPr/>
        </p:nvSpPr>
        <p:spPr>
          <a:xfrm>
            <a:off x="548640" y="2011680"/>
            <a:ext cx="2121408" cy="3840480"/>
          </a:xfrm>
          <a:prstGeom prst="roundRect">
            <a:avLst>
              <a:gd name="adj" fmla="val 4310"/>
            </a:avLst>
          </a:prstGeom>
          <a:solidFill>
            <a:srgbClr val="F5F6F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6D91001-55BD-A0A7-BD90-3884B14B0DC9}"/>
              </a:ext>
            </a:extLst>
          </p:cNvPr>
          <p:cNvSpPr txBox="1"/>
          <p:nvPr/>
        </p:nvSpPr>
        <p:spPr>
          <a:xfrm>
            <a:off x="731520" y="224028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1</a:t>
            </a:r>
            <a:endParaRPr lang="en-US" sz="10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ED5A8AF-F0D3-F26A-EA76-B6AC75E10286}"/>
              </a:ext>
            </a:extLst>
          </p:cNvPr>
          <p:cNvSpPr txBox="1"/>
          <p:nvPr/>
        </p:nvSpPr>
        <p:spPr>
          <a:xfrm>
            <a:off x="731520" y="2542032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RR</a:t>
            </a:r>
            <a:endParaRPr lang="en-US" sz="1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A5C9493-E2FB-8D2D-8F26-DD22C5BD1E41}"/>
              </a:ext>
            </a:extLst>
          </p:cNvPr>
          <p:cNvSpPr/>
          <p:nvPr/>
        </p:nvSpPr>
        <p:spPr>
          <a:xfrm>
            <a:off x="731520" y="3200400"/>
            <a:ext cx="1755648" cy="0"/>
          </a:xfrm>
          <a:prstGeom prst="line">
            <a:avLst/>
          </a:prstGeom>
          <a:noFill/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04CAE1F-83F7-8FE3-850A-001059197D67}"/>
              </a:ext>
            </a:extLst>
          </p:cNvPr>
          <p:cNvSpPr txBox="1"/>
          <p:nvPr/>
        </p:nvSpPr>
        <p:spPr>
          <a:xfrm>
            <a:off x="731520" y="3337560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</a:t>
            </a:r>
            <a:endParaRPr lang="en-US" sz="9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6CDD6C6-AC08-7717-3F93-9A46CEEB4400}"/>
              </a:ext>
            </a:extLst>
          </p:cNvPr>
          <p:cNvSpPr txBox="1"/>
          <p:nvPr/>
        </p:nvSpPr>
        <p:spPr>
          <a:xfrm>
            <a:off x="731520" y="3566160"/>
            <a:ext cx="1755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6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10 → i 20 → i 30</a:t>
            </a:r>
            <a:endParaRPr lang="en-US" sz="11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E985F8C-E253-AE10-56AE-3E00EB67754E}"/>
              </a:ext>
            </a:extLst>
          </p:cNvPr>
          <p:cNvSpPr txBox="1"/>
          <p:nvPr/>
        </p:nvSpPr>
        <p:spPr>
          <a:xfrm>
            <a:off x="731520" y="4892040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</a:t>
            </a:r>
            <a:endParaRPr lang="en-US" sz="9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EF8BCC4-4A83-39C7-5C32-E61E47EE7DD9}"/>
              </a:ext>
            </a:extLst>
          </p:cNvPr>
          <p:cNvSpPr txBox="1"/>
          <p:nvPr/>
        </p:nvSpPr>
        <p:spPr>
          <a:xfrm>
            <a:off x="731520" y="512064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corrige com  l 10</a:t>
            </a:r>
            <a:endParaRPr lang="en-US" sz="105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D3B7042D-8CCF-7C72-A317-C33CADF85A89}"/>
              </a:ext>
            </a:extLst>
          </p:cNvPr>
          <p:cNvSpPr txBox="1"/>
          <p:nvPr/>
        </p:nvSpPr>
        <p:spPr>
          <a:xfrm>
            <a:off x="548640" y="6035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do Desafio AVL, executada sobre a base do modo BST · checkbox “heights” marcado</a:t>
            </a:r>
            <a:endParaRPr lang="en-US" sz="115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9ECA24BB-FB31-2176-925B-6882ECA51BC4}"/>
              </a:ext>
            </a:extLst>
          </p:cNvPr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PokeTree · Modo Desafio de Balanceamento Ativo</a:t>
            </a:r>
            <a:endParaRPr lang="en-US" sz="95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73F91AFD-998D-D9D2-E3F0-4FE959ACEFD0}"/>
              </a:ext>
            </a:extLst>
          </p:cNvPr>
          <p:cNvSpPr txBox="1"/>
          <p:nvPr/>
        </p:nvSpPr>
        <p:spPr>
          <a:xfrm>
            <a:off x="11490097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10</a:t>
            </a:r>
            <a:endParaRPr lang="en-US" sz="1000" dirty="0"/>
          </a:p>
        </p:txBody>
      </p:sp>
      <p:pic>
        <p:nvPicPr>
          <p:cNvPr id="47" name="Imagem 46">
            <a:extLst>
              <a:ext uri="{FF2B5EF4-FFF2-40B4-BE49-F238E27FC236}">
                <a16:creationId xmlns:a16="http://schemas.microsoft.com/office/drawing/2014/main" id="{B92920CA-A2E6-7371-DA11-7C0C719C5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6774" y="2528851"/>
            <a:ext cx="3400029" cy="2877671"/>
          </a:xfrm>
          <a:prstGeom prst="rect">
            <a:avLst/>
          </a:prstGeom>
        </p:spPr>
      </p:pic>
      <p:pic>
        <p:nvPicPr>
          <p:cNvPr id="48" name="Imagem 47">
            <a:extLst>
              <a:ext uri="{FF2B5EF4-FFF2-40B4-BE49-F238E27FC236}">
                <a16:creationId xmlns:a16="http://schemas.microsoft.com/office/drawing/2014/main" id="{133B5188-046E-9CE9-5755-4AC321301D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4848" y="2518241"/>
            <a:ext cx="3392022" cy="2879353"/>
          </a:xfrm>
          <a:prstGeom prst="rect">
            <a:avLst/>
          </a:prstGeom>
        </p:spPr>
      </p:pic>
      <p:sp>
        <p:nvSpPr>
          <p:cNvPr id="49" name="CaixaDeTexto 48">
            <a:extLst>
              <a:ext uri="{FF2B5EF4-FFF2-40B4-BE49-F238E27FC236}">
                <a16:creationId xmlns:a16="http://schemas.microsoft.com/office/drawing/2014/main" id="{206702B6-39EE-E893-B958-5019ABEB783C}"/>
              </a:ext>
            </a:extLst>
          </p:cNvPr>
          <p:cNvSpPr txBox="1"/>
          <p:nvPr/>
        </p:nvSpPr>
        <p:spPr>
          <a:xfrm>
            <a:off x="3617833" y="1865923"/>
            <a:ext cx="2779058" cy="6552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b="1" dirty="0">
                <a:ea typeface="+mn-lt"/>
                <a:cs typeface="+mn-lt"/>
              </a:rPr>
              <a:t>O Estado Inicial (Desequilíbrio RR)</a:t>
            </a:r>
            <a:endParaRPr lang="pt-BR" b="1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7868100B-D838-4A3C-B55B-C6C213E12EEE}"/>
              </a:ext>
            </a:extLst>
          </p:cNvPr>
          <p:cNvSpPr txBox="1"/>
          <p:nvPr/>
        </p:nvSpPr>
        <p:spPr>
          <a:xfrm>
            <a:off x="8260631" y="2006140"/>
            <a:ext cx="259861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b="1" dirty="0">
                <a:ea typeface="+mn-lt"/>
                <a:cs typeface="+mn-lt"/>
              </a:rPr>
              <a:t>O Resultado Equilibrado</a:t>
            </a:r>
            <a:endParaRPr lang="pt-BR" b="1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09268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A64BE3-19FA-A7C5-5767-CC4BEF9C6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040E2D1-2BAC-FDBF-B365-30A1744CE151}"/>
              </a:ext>
            </a:extLst>
          </p:cNvPr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 ·  ROTEIRO DE COMANDOS NO JOGO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96FA6B0-2859-D227-793E-8CB111C47EF6}"/>
              </a:ext>
            </a:extLst>
          </p:cNvPr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ao vivo: 5 atos</a:t>
            </a:r>
            <a:endParaRPr lang="en-US" sz="30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5E819ECD-FBF7-7DA3-FA2C-1D3CB76567F0}"/>
              </a:ext>
            </a:extLst>
          </p:cNvPr>
          <p:cNvSpPr txBox="1"/>
          <p:nvPr/>
        </p:nvSpPr>
        <p:spPr>
          <a:xfrm>
            <a:off x="548640" y="6035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do Desafio AVL, executada sobre a base do modo BST · checkbox “heights” marcado</a:t>
            </a:r>
            <a:endParaRPr lang="en-US" sz="115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AC690811-339A-1226-AC8B-293BD25FD713}"/>
              </a:ext>
            </a:extLst>
          </p:cNvPr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PokeTree · Modo Desafio de Balanceamento Ativo</a:t>
            </a:r>
            <a:endParaRPr lang="en-US" sz="95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AE89ACEA-F875-5FFC-E59D-4496F26BABED}"/>
              </a:ext>
            </a:extLst>
          </p:cNvPr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11</a:t>
            </a:r>
            <a:endParaRPr lang="pt-BR" dirty="0"/>
          </a:p>
        </p:txBody>
      </p:sp>
      <p:pic>
        <p:nvPicPr>
          <p:cNvPr id="48" name="Imagem 47">
            <a:extLst>
              <a:ext uri="{FF2B5EF4-FFF2-40B4-BE49-F238E27FC236}">
                <a16:creationId xmlns:a16="http://schemas.microsoft.com/office/drawing/2014/main" id="{4261E7C5-D542-CF95-2A00-1784E7C0E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4848" y="2518241"/>
            <a:ext cx="3392022" cy="2879353"/>
          </a:xfrm>
          <a:prstGeom prst="rect">
            <a:avLst/>
          </a:prstGeom>
        </p:spPr>
      </p:pic>
      <p:sp>
        <p:nvSpPr>
          <p:cNvPr id="49" name="CaixaDeTexto 48">
            <a:extLst>
              <a:ext uri="{FF2B5EF4-FFF2-40B4-BE49-F238E27FC236}">
                <a16:creationId xmlns:a16="http://schemas.microsoft.com/office/drawing/2014/main" id="{D53D404E-5BA2-A296-7C20-51765DEE9B28}"/>
              </a:ext>
            </a:extLst>
          </p:cNvPr>
          <p:cNvSpPr txBox="1"/>
          <p:nvPr/>
        </p:nvSpPr>
        <p:spPr>
          <a:xfrm>
            <a:off x="3617833" y="1865923"/>
            <a:ext cx="2779058" cy="6552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b="1" dirty="0">
                <a:ea typeface="+mn-lt"/>
                <a:cs typeface="+mn-lt"/>
              </a:rPr>
              <a:t>O Estado Inicial (Desequilíbrio LL)</a:t>
            </a:r>
            <a:endParaRPr lang="pt-BR" b="1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ACF0E503-7A96-4C7C-C1AC-2F0E7B2898C8}"/>
              </a:ext>
            </a:extLst>
          </p:cNvPr>
          <p:cNvSpPr txBox="1"/>
          <p:nvPr/>
        </p:nvSpPr>
        <p:spPr>
          <a:xfrm>
            <a:off x="8260631" y="2006140"/>
            <a:ext cx="259861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b="1" dirty="0">
                <a:ea typeface="+mn-lt"/>
                <a:cs typeface="+mn-lt"/>
              </a:rPr>
              <a:t>O Resultado Equilibrado</a:t>
            </a:r>
            <a:endParaRPr lang="pt-BR" b="1" dirty="0">
              <a:ea typeface="Calibri" panose="020F0502020204030204"/>
              <a:cs typeface="Calibri" panose="020F0502020204030204"/>
            </a:endParaRPr>
          </a:p>
        </p:txBody>
      </p: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70F34B35-75FE-1145-1960-F2F903F36D7C}"/>
              </a:ext>
            </a:extLst>
          </p:cNvPr>
          <p:cNvGrpSpPr/>
          <p:nvPr/>
        </p:nvGrpSpPr>
        <p:grpSpPr>
          <a:xfrm>
            <a:off x="546374" y="2011680"/>
            <a:ext cx="2121408" cy="3840480"/>
            <a:chOff x="2724912" y="2011680"/>
            <a:chExt cx="2121408" cy="3840480"/>
          </a:xfrm>
        </p:grpSpPr>
        <p:sp>
          <p:nvSpPr>
            <p:cNvPr id="24" name="Shape 10">
              <a:extLst>
                <a:ext uri="{FF2B5EF4-FFF2-40B4-BE49-F238E27FC236}">
                  <a16:creationId xmlns:a16="http://schemas.microsoft.com/office/drawing/2014/main" id="{991F9FC3-6DE0-6A22-3795-3B133C6469C8}"/>
                </a:ext>
              </a:extLst>
            </p:cNvPr>
            <p:cNvSpPr/>
            <p:nvPr/>
          </p:nvSpPr>
          <p:spPr>
            <a:xfrm>
              <a:off x="2724912" y="2011680"/>
              <a:ext cx="2121408" cy="3840480"/>
            </a:xfrm>
            <a:prstGeom prst="roundRect">
              <a:avLst>
                <a:gd name="adj" fmla="val 4310"/>
              </a:avLst>
            </a:prstGeom>
            <a:solidFill>
              <a:srgbClr val="F5F6F8"/>
            </a:solidFill>
            <a:ln w="12700">
              <a:solidFill>
                <a:srgbClr val="DCE1E8"/>
              </a:solidFill>
              <a:prstDash val="solid"/>
            </a:ln>
          </p:spPr>
        </p:sp>
        <p:sp>
          <p:nvSpPr>
            <p:cNvPr id="25" name="Text 11">
              <a:extLst>
                <a:ext uri="{FF2B5EF4-FFF2-40B4-BE49-F238E27FC236}">
                  <a16:creationId xmlns:a16="http://schemas.microsoft.com/office/drawing/2014/main" id="{920B3F2C-0613-04B9-42AF-BF4723AF4ED1}"/>
                </a:ext>
              </a:extLst>
            </p:cNvPr>
            <p:cNvSpPr txBox="1"/>
            <p:nvPr/>
          </p:nvSpPr>
          <p:spPr>
            <a:xfrm>
              <a:off x="2907792" y="2240280"/>
              <a:ext cx="175564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kern="0" spc="150" dirty="0">
                  <a:solidFill>
                    <a:srgbClr val="E8A3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ATO 2</a:t>
              </a:r>
              <a:endParaRPr lang="en-US" sz="1050" dirty="0"/>
            </a:p>
          </p:txBody>
        </p:sp>
        <p:sp>
          <p:nvSpPr>
            <p:cNvPr id="26" name="Text 12">
              <a:extLst>
                <a:ext uri="{FF2B5EF4-FFF2-40B4-BE49-F238E27FC236}">
                  <a16:creationId xmlns:a16="http://schemas.microsoft.com/office/drawing/2014/main" id="{BB3035D6-B274-22B2-E6F9-69E4DFF4AE4C}"/>
                </a:ext>
              </a:extLst>
            </p:cNvPr>
            <p:cNvSpPr txBox="1"/>
            <p:nvPr/>
          </p:nvSpPr>
          <p:spPr>
            <a:xfrm>
              <a:off x="2907792" y="2542032"/>
              <a:ext cx="175564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6233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Caso LL</a:t>
              </a:r>
              <a:endParaRPr lang="en-US" sz="1600" dirty="0"/>
            </a:p>
          </p:txBody>
        </p:sp>
        <p:sp>
          <p:nvSpPr>
            <p:cNvPr id="27" name="Shape 13">
              <a:extLst>
                <a:ext uri="{FF2B5EF4-FFF2-40B4-BE49-F238E27FC236}">
                  <a16:creationId xmlns:a16="http://schemas.microsoft.com/office/drawing/2014/main" id="{F545650F-0220-1741-6F4D-59F28D87EAC6}"/>
                </a:ext>
              </a:extLst>
            </p:cNvPr>
            <p:cNvSpPr/>
            <p:nvPr/>
          </p:nvSpPr>
          <p:spPr>
            <a:xfrm>
              <a:off x="2907792" y="3200400"/>
              <a:ext cx="1755648" cy="0"/>
            </a:xfrm>
            <a:prstGeom prst="line">
              <a:avLst/>
            </a:prstGeom>
            <a:noFill/>
            <a:ln w="12700">
              <a:solidFill>
                <a:srgbClr val="DCE1E8"/>
              </a:solidFill>
              <a:prstDash val="solid"/>
            </a:ln>
          </p:spPr>
        </p:sp>
        <p:sp>
          <p:nvSpPr>
            <p:cNvPr id="28" name="Text 14">
              <a:extLst>
                <a:ext uri="{FF2B5EF4-FFF2-40B4-BE49-F238E27FC236}">
                  <a16:creationId xmlns:a16="http://schemas.microsoft.com/office/drawing/2014/main" id="{C2B7FEC4-5A4A-4149-A55C-95760D9D168E}"/>
                </a:ext>
              </a:extLst>
            </p:cNvPr>
            <p:cNvSpPr txBox="1"/>
            <p:nvPr/>
          </p:nvSpPr>
          <p:spPr>
            <a:xfrm>
              <a:off x="2907792" y="3337560"/>
              <a:ext cx="175564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5B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COMANDOS</a:t>
              </a:r>
              <a:endParaRPr lang="en-US" sz="900" dirty="0"/>
            </a:p>
          </p:txBody>
        </p:sp>
        <p:sp>
          <p:nvSpPr>
            <p:cNvPr id="29" name="Text 15">
              <a:extLst>
                <a:ext uri="{FF2B5EF4-FFF2-40B4-BE49-F238E27FC236}">
                  <a16:creationId xmlns:a16="http://schemas.microsoft.com/office/drawing/2014/main" id="{73E92AF2-2D5E-AA94-21C1-126AA71E18C7}"/>
                </a:ext>
              </a:extLst>
            </p:cNvPr>
            <p:cNvSpPr txBox="1"/>
            <p:nvPr/>
          </p:nvSpPr>
          <p:spPr>
            <a:xfrm>
              <a:off x="2907792" y="3566160"/>
              <a:ext cx="1755648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100" dirty="0">
                  <a:solidFill>
                    <a:srgbClr val="16233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i 30 → i 20 → i 10</a:t>
              </a:r>
              <a:endParaRPr lang="en-US" sz="1100" dirty="0"/>
            </a:p>
          </p:txBody>
        </p:sp>
        <p:sp>
          <p:nvSpPr>
            <p:cNvPr id="30" name="Text 16">
              <a:extLst>
                <a:ext uri="{FF2B5EF4-FFF2-40B4-BE49-F238E27FC236}">
                  <a16:creationId xmlns:a16="http://schemas.microsoft.com/office/drawing/2014/main" id="{4E04B50C-B230-8987-1AD0-9DE0A254DFB4}"/>
                </a:ext>
              </a:extLst>
            </p:cNvPr>
            <p:cNvSpPr txBox="1"/>
            <p:nvPr/>
          </p:nvSpPr>
          <p:spPr>
            <a:xfrm>
              <a:off x="2907792" y="4892040"/>
              <a:ext cx="175564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5B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CORREÇÃO</a:t>
              </a:r>
              <a:endParaRPr lang="en-US" sz="900" dirty="0"/>
            </a:p>
          </p:txBody>
        </p:sp>
        <p:sp>
          <p:nvSpPr>
            <p:cNvPr id="31" name="Text 17">
              <a:extLst>
                <a:ext uri="{FF2B5EF4-FFF2-40B4-BE49-F238E27FC236}">
                  <a16:creationId xmlns:a16="http://schemas.microsoft.com/office/drawing/2014/main" id="{54D7B4EC-34A2-E7FC-FD53-B1AD464BF036}"/>
                </a:ext>
              </a:extLst>
            </p:cNvPr>
            <p:cNvSpPr txBox="1"/>
            <p:nvPr/>
          </p:nvSpPr>
          <p:spPr>
            <a:xfrm>
              <a:off x="2907792" y="5120640"/>
              <a:ext cx="1755648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050" b="1" dirty="0">
                  <a:solidFill>
                    <a:srgbClr val="2E7D32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corrige com  r 30</a:t>
              </a:r>
              <a:endParaRPr lang="en-US" sz="1050" dirty="0"/>
            </a:p>
          </p:txBody>
        </p:sp>
      </p:grpSp>
      <p:pic>
        <p:nvPicPr>
          <p:cNvPr id="34" name="Imagem 33" descr="Mapa&#10;&#10;O conteúdo gerado por IA pode estar incorreto.">
            <a:extLst>
              <a:ext uri="{FF2B5EF4-FFF2-40B4-BE49-F238E27FC236}">
                <a16:creationId xmlns:a16="http://schemas.microsoft.com/office/drawing/2014/main" id="{02290C9F-8D21-B1E8-44EE-6E470D792A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7980" y="2520461"/>
            <a:ext cx="3397040" cy="2881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8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AC456B-7D80-0C55-1403-E8B58F86F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C020109-4A85-EC84-FD02-0CDD4A365156}"/>
              </a:ext>
            </a:extLst>
          </p:cNvPr>
          <p:cNvSpPr txBox="1"/>
          <p:nvPr/>
        </p:nvSpPr>
        <p:spPr>
          <a:xfrm>
            <a:off x="548640" y="456303"/>
            <a:ext cx="4778189" cy="275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 ·  ROTEIRO DE COMANDOS NO JOGO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68A0F28-F418-644F-19DD-B7E389D57FE7}"/>
              </a:ext>
            </a:extLst>
          </p:cNvPr>
          <p:cNvSpPr txBox="1"/>
          <p:nvPr/>
        </p:nvSpPr>
        <p:spPr>
          <a:xfrm>
            <a:off x="548640" y="731161"/>
            <a:ext cx="5307106" cy="805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ao vivo: 5 atos</a:t>
            </a:r>
            <a:endParaRPr lang="en-US" sz="30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5EBB52AF-5134-0812-BE9F-F0F645AB88E2}"/>
              </a:ext>
            </a:extLst>
          </p:cNvPr>
          <p:cNvSpPr txBox="1"/>
          <p:nvPr/>
        </p:nvSpPr>
        <p:spPr>
          <a:xfrm>
            <a:off x="548640" y="6035040"/>
            <a:ext cx="4294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do Desafio AVL, executada sobre a base do modo BST · checkbox “heights” marcado</a:t>
            </a:r>
            <a:endParaRPr lang="en-US" sz="115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50101EDD-195A-9DB3-2C6D-CDD26249FB40}"/>
              </a:ext>
            </a:extLst>
          </p:cNvPr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PokeTree · Modo Desafio de Balanceamento Ativo</a:t>
            </a:r>
            <a:endParaRPr lang="en-US" sz="95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53AE96A1-DD1D-C5A2-C829-9C9059C82840}"/>
              </a:ext>
            </a:extLst>
          </p:cNvPr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12</a:t>
            </a:r>
            <a:endParaRPr lang="pt-PT" dirty="0"/>
          </a:p>
        </p:txBody>
      </p:sp>
      <p:pic>
        <p:nvPicPr>
          <p:cNvPr id="48" name="Imagem 47">
            <a:extLst>
              <a:ext uri="{FF2B5EF4-FFF2-40B4-BE49-F238E27FC236}">
                <a16:creationId xmlns:a16="http://schemas.microsoft.com/office/drawing/2014/main" id="{9FBC39D6-556C-3851-3883-008704686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7601" y="3925700"/>
            <a:ext cx="3392022" cy="2879353"/>
          </a:xfrm>
          <a:prstGeom prst="rect">
            <a:avLst/>
          </a:prstGeom>
        </p:spPr>
      </p:pic>
      <p:sp>
        <p:nvSpPr>
          <p:cNvPr id="49" name="CaixaDeTexto 48">
            <a:extLst>
              <a:ext uri="{FF2B5EF4-FFF2-40B4-BE49-F238E27FC236}">
                <a16:creationId xmlns:a16="http://schemas.microsoft.com/office/drawing/2014/main" id="{BAFD768F-F8C1-E90A-7733-3A0EF6C516D5}"/>
              </a:ext>
            </a:extLst>
          </p:cNvPr>
          <p:cNvSpPr txBox="1"/>
          <p:nvPr/>
        </p:nvSpPr>
        <p:spPr>
          <a:xfrm>
            <a:off x="3617833" y="1865923"/>
            <a:ext cx="2779058" cy="6552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dirty="0">
                <a:ea typeface="+mn-lt"/>
                <a:cs typeface="+mn-lt"/>
              </a:rPr>
              <a:t>O Estado Inicial (Desequilíbrio LR)</a:t>
            </a: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CE71FAFD-7C60-AB89-469D-39AFDF2B1C7D}"/>
              </a:ext>
            </a:extLst>
          </p:cNvPr>
          <p:cNvSpPr txBox="1"/>
          <p:nvPr/>
        </p:nvSpPr>
        <p:spPr>
          <a:xfrm>
            <a:off x="7319338" y="3557034"/>
            <a:ext cx="46156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dirty="0">
                <a:ea typeface="+mn-lt"/>
                <a:cs typeface="+mn-lt"/>
              </a:rPr>
              <a:t>A Segunda Rotação (O Resultado Equilibrado)</a:t>
            </a:r>
            <a:endParaRPr lang="pt-BR" dirty="0"/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E86EFC5D-E3BE-9F93-7D6A-846FB5E03688}"/>
              </a:ext>
            </a:extLst>
          </p:cNvPr>
          <p:cNvGrpSpPr/>
          <p:nvPr/>
        </p:nvGrpSpPr>
        <p:grpSpPr>
          <a:xfrm>
            <a:off x="544107" y="2001911"/>
            <a:ext cx="2121408" cy="3840480"/>
            <a:chOff x="4901184" y="2011680"/>
            <a:chExt cx="2121408" cy="3840480"/>
          </a:xfrm>
        </p:grpSpPr>
        <p:sp>
          <p:nvSpPr>
            <p:cNvPr id="5" name="Shape 18">
              <a:extLst>
                <a:ext uri="{FF2B5EF4-FFF2-40B4-BE49-F238E27FC236}">
                  <a16:creationId xmlns:a16="http://schemas.microsoft.com/office/drawing/2014/main" id="{A54285FC-9B72-575F-A82D-C032540FB104}"/>
                </a:ext>
              </a:extLst>
            </p:cNvPr>
            <p:cNvSpPr/>
            <p:nvPr/>
          </p:nvSpPr>
          <p:spPr>
            <a:xfrm>
              <a:off x="4901184" y="2011680"/>
              <a:ext cx="2121408" cy="3840480"/>
            </a:xfrm>
            <a:prstGeom prst="roundRect">
              <a:avLst>
                <a:gd name="adj" fmla="val 4310"/>
              </a:avLst>
            </a:prstGeom>
            <a:solidFill>
              <a:srgbClr val="F5F6F8"/>
            </a:solidFill>
            <a:ln w="12700">
              <a:solidFill>
                <a:srgbClr val="DCE1E8"/>
              </a:solidFill>
              <a:prstDash val="solid"/>
            </a:ln>
          </p:spPr>
        </p:sp>
        <p:sp>
          <p:nvSpPr>
            <p:cNvPr id="6" name="Text 19">
              <a:extLst>
                <a:ext uri="{FF2B5EF4-FFF2-40B4-BE49-F238E27FC236}">
                  <a16:creationId xmlns:a16="http://schemas.microsoft.com/office/drawing/2014/main" id="{A66890F4-E5E8-0382-89CE-D3EA24EB5BD5}"/>
                </a:ext>
              </a:extLst>
            </p:cNvPr>
            <p:cNvSpPr txBox="1"/>
            <p:nvPr/>
          </p:nvSpPr>
          <p:spPr>
            <a:xfrm>
              <a:off x="5084064" y="2240280"/>
              <a:ext cx="175564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kern="0" spc="150" dirty="0">
                  <a:solidFill>
                    <a:srgbClr val="E8A3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ATO 3</a:t>
              </a:r>
              <a:endParaRPr lang="en-US" sz="1050" dirty="0"/>
            </a:p>
          </p:txBody>
        </p:sp>
        <p:sp>
          <p:nvSpPr>
            <p:cNvPr id="7" name="Text 20">
              <a:extLst>
                <a:ext uri="{FF2B5EF4-FFF2-40B4-BE49-F238E27FC236}">
                  <a16:creationId xmlns:a16="http://schemas.microsoft.com/office/drawing/2014/main" id="{70D8E677-1BC4-ABDF-1A6C-926C14845040}"/>
                </a:ext>
              </a:extLst>
            </p:cNvPr>
            <p:cNvSpPr txBox="1"/>
            <p:nvPr/>
          </p:nvSpPr>
          <p:spPr>
            <a:xfrm>
              <a:off x="5084064" y="2542032"/>
              <a:ext cx="175564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6233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Caso duplo LR</a:t>
              </a:r>
              <a:endParaRPr lang="en-US" sz="1600" dirty="0"/>
            </a:p>
          </p:txBody>
        </p:sp>
        <p:sp>
          <p:nvSpPr>
            <p:cNvPr id="8" name="Shape 21">
              <a:extLst>
                <a:ext uri="{FF2B5EF4-FFF2-40B4-BE49-F238E27FC236}">
                  <a16:creationId xmlns:a16="http://schemas.microsoft.com/office/drawing/2014/main" id="{74DFA8FC-5F20-62E7-C551-88D5D303C88B}"/>
                </a:ext>
              </a:extLst>
            </p:cNvPr>
            <p:cNvSpPr/>
            <p:nvPr/>
          </p:nvSpPr>
          <p:spPr>
            <a:xfrm>
              <a:off x="5084064" y="3200400"/>
              <a:ext cx="1755648" cy="0"/>
            </a:xfrm>
            <a:prstGeom prst="line">
              <a:avLst/>
            </a:prstGeom>
            <a:noFill/>
            <a:ln w="12700">
              <a:solidFill>
                <a:srgbClr val="DCE1E8"/>
              </a:solidFill>
              <a:prstDash val="solid"/>
            </a:ln>
          </p:spPr>
        </p:sp>
        <p:sp>
          <p:nvSpPr>
            <p:cNvPr id="9" name="Text 22">
              <a:extLst>
                <a:ext uri="{FF2B5EF4-FFF2-40B4-BE49-F238E27FC236}">
                  <a16:creationId xmlns:a16="http://schemas.microsoft.com/office/drawing/2014/main" id="{2DF14CAA-5B7D-0CB3-CC43-9B6409069CC1}"/>
                </a:ext>
              </a:extLst>
            </p:cNvPr>
            <p:cNvSpPr txBox="1"/>
            <p:nvPr/>
          </p:nvSpPr>
          <p:spPr>
            <a:xfrm>
              <a:off x="5084064" y="3337560"/>
              <a:ext cx="175564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5B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COMANDOS</a:t>
              </a:r>
              <a:endParaRPr lang="en-US" sz="900" dirty="0"/>
            </a:p>
          </p:txBody>
        </p:sp>
        <p:sp>
          <p:nvSpPr>
            <p:cNvPr id="10" name="Text 23">
              <a:extLst>
                <a:ext uri="{FF2B5EF4-FFF2-40B4-BE49-F238E27FC236}">
                  <a16:creationId xmlns:a16="http://schemas.microsoft.com/office/drawing/2014/main" id="{4D7552FC-2C88-6928-8F4B-9329904DEE67}"/>
                </a:ext>
              </a:extLst>
            </p:cNvPr>
            <p:cNvSpPr txBox="1"/>
            <p:nvPr/>
          </p:nvSpPr>
          <p:spPr>
            <a:xfrm>
              <a:off x="5084064" y="3566160"/>
              <a:ext cx="1755648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100" dirty="0">
                  <a:solidFill>
                    <a:srgbClr val="16233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i 30 → i 10 → i 20</a:t>
              </a:r>
              <a:endParaRPr lang="en-US" sz="1100" dirty="0"/>
            </a:p>
          </p:txBody>
        </p:sp>
        <p:sp>
          <p:nvSpPr>
            <p:cNvPr id="11" name="Text 24">
              <a:extLst>
                <a:ext uri="{FF2B5EF4-FFF2-40B4-BE49-F238E27FC236}">
                  <a16:creationId xmlns:a16="http://schemas.microsoft.com/office/drawing/2014/main" id="{E527292D-CD95-7449-CE2A-129949AD483D}"/>
                </a:ext>
              </a:extLst>
            </p:cNvPr>
            <p:cNvSpPr txBox="1"/>
            <p:nvPr/>
          </p:nvSpPr>
          <p:spPr>
            <a:xfrm>
              <a:off x="5084064" y="4892040"/>
              <a:ext cx="175564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5B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CORREÇÃO</a:t>
              </a:r>
              <a:endParaRPr lang="en-US" sz="900" dirty="0"/>
            </a:p>
          </p:txBody>
        </p:sp>
        <p:sp>
          <p:nvSpPr>
            <p:cNvPr id="12" name="Text 25">
              <a:extLst>
                <a:ext uri="{FF2B5EF4-FFF2-40B4-BE49-F238E27FC236}">
                  <a16:creationId xmlns:a16="http://schemas.microsoft.com/office/drawing/2014/main" id="{1FDA6A49-2F40-2343-0B9F-FA7552542F98}"/>
                </a:ext>
              </a:extLst>
            </p:cNvPr>
            <p:cNvSpPr txBox="1"/>
            <p:nvPr/>
          </p:nvSpPr>
          <p:spPr>
            <a:xfrm>
              <a:off x="5084064" y="5120640"/>
              <a:ext cx="1755648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050" b="1" dirty="0">
                  <a:solidFill>
                    <a:srgbClr val="2E7D32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corrige com  l 10  depois  r 30</a:t>
              </a:r>
              <a:endParaRPr lang="en-US" sz="1050" dirty="0"/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B61A3A51-214B-22F5-67F3-58784EC26C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9814" y="2483223"/>
            <a:ext cx="3393947" cy="2886636"/>
          </a:xfrm>
          <a:prstGeom prst="rect">
            <a:avLst/>
          </a:prstGeom>
        </p:spPr>
      </p:pic>
      <p:pic>
        <p:nvPicPr>
          <p:cNvPr id="16" name="Imagem 15" descr="Mapa&#10;&#10;O conteúdo gerado por IA pode estar incorreto.">
            <a:extLst>
              <a:ext uri="{FF2B5EF4-FFF2-40B4-BE49-F238E27FC236}">
                <a16:creationId xmlns:a16="http://schemas.microsoft.com/office/drawing/2014/main" id="{780DB5A4-F4B1-6729-205C-C38533A41A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086" y="458579"/>
            <a:ext cx="3397040" cy="2881924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DA673D4E-ADCE-A7CC-F178-C82037F1BDC8}"/>
              </a:ext>
            </a:extLst>
          </p:cNvPr>
          <p:cNvSpPr txBox="1"/>
          <p:nvPr/>
        </p:nvSpPr>
        <p:spPr>
          <a:xfrm>
            <a:off x="7517481" y="90911"/>
            <a:ext cx="42223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dirty="0">
                <a:ea typeface="+mn-lt"/>
                <a:cs typeface="+mn-lt"/>
              </a:rPr>
              <a:t>A Primeira Rotação (Transformação em LL)</a:t>
            </a:r>
          </a:p>
        </p:txBody>
      </p:sp>
    </p:spTree>
    <p:extLst>
      <p:ext uri="{BB962C8B-B14F-4D97-AF65-F5344CB8AC3E}">
        <p14:creationId xmlns:p14="http://schemas.microsoft.com/office/powerpoint/2010/main" val="280488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61FE3C-BE69-15BB-F0D8-2204BFA42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EC0A846-4724-FF02-78E3-4648213D861C}"/>
              </a:ext>
            </a:extLst>
          </p:cNvPr>
          <p:cNvSpPr txBox="1"/>
          <p:nvPr/>
        </p:nvSpPr>
        <p:spPr>
          <a:xfrm>
            <a:off x="548640" y="460326"/>
            <a:ext cx="4882662" cy="271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 ·  ROTEIRO DE COMANDOS NO JOGO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9F96A7A-CF99-DA20-5473-DA11552F7836}"/>
              </a:ext>
            </a:extLst>
          </p:cNvPr>
          <p:cNvSpPr txBox="1"/>
          <p:nvPr/>
        </p:nvSpPr>
        <p:spPr>
          <a:xfrm>
            <a:off x="548640" y="731161"/>
            <a:ext cx="5307106" cy="805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ao vivo: 5 atos</a:t>
            </a:r>
            <a:endParaRPr lang="en-US" sz="30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16CCDF1F-4534-A0CA-3AE3-2563E0C97A69}"/>
              </a:ext>
            </a:extLst>
          </p:cNvPr>
          <p:cNvSpPr txBox="1"/>
          <p:nvPr/>
        </p:nvSpPr>
        <p:spPr>
          <a:xfrm>
            <a:off x="548640" y="6035040"/>
            <a:ext cx="4294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do Desafio AVL, executada sobre a base do modo BST · checkbox “heights” marcado</a:t>
            </a:r>
            <a:endParaRPr lang="en-US" sz="115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DA87D310-8C91-2EED-5C89-D0D4FDD5C9EA}"/>
              </a:ext>
            </a:extLst>
          </p:cNvPr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PokeTree · Modo Desafio de Balanceamento Ativo</a:t>
            </a:r>
            <a:endParaRPr lang="en-US" sz="95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D960B466-9C67-0099-597C-2BC86C9EF227}"/>
              </a:ext>
            </a:extLst>
          </p:cNvPr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13</a:t>
            </a:r>
            <a:endParaRPr lang="pt-PT" dirty="0"/>
          </a:p>
        </p:txBody>
      </p:sp>
      <p:pic>
        <p:nvPicPr>
          <p:cNvPr id="48" name="Imagem 47">
            <a:extLst>
              <a:ext uri="{FF2B5EF4-FFF2-40B4-BE49-F238E27FC236}">
                <a16:creationId xmlns:a16="http://schemas.microsoft.com/office/drawing/2014/main" id="{3DA5162A-65FC-CF41-C343-FDA1D023D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9982" y="3958593"/>
            <a:ext cx="3392022" cy="2879353"/>
          </a:xfrm>
          <a:prstGeom prst="rect">
            <a:avLst/>
          </a:prstGeom>
        </p:spPr>
      </p:pic>
      <p:sp>
        <p:nvSpPr>
          <p:cNvPr id="49" name="CaixaDeTexto 48">
            <a:extLst>
              <a:ext uri="{FF2B5EF4-FFF2-40B4-BE49-F238E27FC236}">
                <a16:creationId xmlns:a16="http://schemas.microsoft.com/office/drawing/2014/main" id="{A7031157-60B6-5726-8F87-B8745064FA9A}"/>
              </a:ext>
            </a:extLst>
          </p:cNvPr>
          <p:cNvSpPr txBox="1"/>
          <p:nvPr/>
        </p:nvSpPr>
        <p:spPr>
          <a:xfrm>
            <a:off x="3453206" y="1832526"/>
            <a:ext cx="2779058" cy="6552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b="1" dirty="0">
                <a:ea typeface="+mn-lt"/>
                <a:cs typeface="+mn-lt"/>
              </a:rPr>
              <a:t>O Estado Inicial (Desequilíbrio RL)</a:t>
            </a: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19FE8E4B-8300-FF18-78C3-3CA8DA6C0834}"/>
              </a:ext>
            </a:extLst>
          </p:cNvPr>
          <p:cNvSpPr txBox="1"/>
          <p:nvPr/>
        </p:nvSpPr>
        <p:spPr>
          <a:xfrm>
            <a:off x="7459669" y="3366868"/>
            <a:ext cx="441902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b="1" dirty="0">
                <a:ea typeface="+mn-lt"/>
                <a:cs typeface="+mn-lt"/>
              </a:rPr>
              <a:t>A Segunda Rotação (O Resultado Equilibrado)</a:t>
            </a:r>
            <a:endParaRPr lang="pt-BR" b="1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A16CB63-286A-7CBD-883D-AF29F8347369}"/>
              </a:ext>
            </a:extLst>
          </p:cNvPr>
          <p:cNvSpPr txBox="1"/>
          <p:nvPr/>
        </p:nvSpPr>
        <p:spPr>
          <a:xfrm>
            <a:off x="7656319" y="90911"/>
            <a:ext cx="4098679" cy="3539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1700" b="1" dirty="0">
                <a:ea typeface="+mn-lt"/>
                <a:cs typeface="+mn-lt"/>
              </a:rPr>
              <a:t>A Primeira Rotação (Transformação em RR)</a:t>
            </a:r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CA01E629-C41E-89AF-C2AE-C8F1D9976680}"/>
              </a:ext>
            </a:extLst>
          </p:cNvPr>
          <p:cNvGrpSpPr/>
          <p:nvPr/>
        </p:nvGrpSpPr>
        <p:grpSpPr>
          <a:xfrm>
            <a:off x="551610" y="2040988"/>
            <a:ext cx="2121408" cy="3840480"/>
            <a:chOff x="7077456" y="2011680"/>
            <a:chExt cx="2121408" cy="3840480"/>
          </a:xfrm>
        </p:grpSpPr>
        <p:sp>
          <p:nvSpPr>
            <p:cNvPr id="15" name="Shape 26">
              <a:extLst>
                <a:ext uri="{FF2B5EF4-FFF2-40B4-BE49-F238E27FC236}">
                  <a16:creationId xmlns:a16="http://schemas.microsoft.com/office/drawing/2014/main" id="{4409CD5C-6ED6-F08B-5DF9-4D65379633EA}"/>
                </a:ext>
              </a:extLst>
            </p:cNvPr>
            <p:cNvSpPr/>
            <p:nvPr/>
          </p:nvSpPr>
          <p:spPr>
            <a:xfrm>
              <a:off x="7077456" y="2011680"/>
              <a:ext cx="2121408" cy="3840480"/>
            </a:xfrm>
            <a:prstGeom prst="roundRect">
              <a:avLst>
                <a:gd name="adj" fmla="val 4310"/>
              </a:avLst>
            </a:prstGeom>
            <a:solidFill>
              <a:srgbClr val="F5F6F8"/>
            </a:solidFill>
            <a:ln w="12700">
              <a:solidFill>
                <a:srgbClr val="DCE1E8"/>
              </a:solidFill>
              <a:prstDash val="solid"/>
            </a:ln>
          </p:spPr>
        </p:sp>
        <p:sp>
          <p:nvSpPr>
            <p:cNvPr id="18" name="Text 27">
              <a:extLst>
                <a:ext uri="{FF2B5EF4-FFF2-40B4-BE49-F238E27FC236}">
                  <a16:creationId xmlns:a16="http://schemas.microsoft.com/office/drawing/2014/main" id="{951169D3-F39D-EB97-AC51-948E3E92EB7B}"/>
                </a:ext>
              </a:extLst>
            </p:cNvPr>
            <p:cNvSpPr txBox="1"/>
            <p:nvPr/>
          </p:nvSpPr>
          <p:spPr>
            <a:xfrm>
              <a:off x="7260336" y="2240280"/>
              <a:ext cx="175564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kern="0" spc="150" dirty="0">
                  <a:solidFill>
                    <a:srgbClr val="E8A3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ATO 4</a:t>
              </a:r>
              <a:endParaRPr lang="en-US" sz="1050" dirty="0"/>
            </a:p>
          </p:txBody>
        </p:sp>
        <p:sp>
          <p:nvSpPr>
            <p:cNvPr id="19" name="Text 28">
              <a:extLst>
                <a:ext uri="{FF2B5EF4-FFF2-40B4-BE49-F238E27FC236}">
                  <a16:creationId xmlns:a16="http://schemas.microsoft.com/office/drawing/2014/main" id="{67371E3F-F62E-739A-F8E1-586F4116A18C}"/>
                </a:ext>
              </a:extLst>
            </p:cNvPr>
            <p:cNvSpPr txBox="1"/>
            <p:nvPr/>
          </p:nvSpPr>
          <p:spPr>
            <a:xfrm>
              <a:off x="7260336" y="2542032"/>
              <a:ext cx="175564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6233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Caso duplo RL</a:t>
              </a:r>
              <a:endParaRPr lang="en-US" sz="1600" dirty="0"/>
            </a:p>
          </p:txBody>
        </p:sp>
        <p:sp>
          <p:nvSpPr>
            <p:cNvPr id="20" name="Shape 29">
              <a:extLst>
                <a:ext uri="{FF2B5EF4-FFF2-40B4-BE49-F238E27FC236}">
                  <a16:creationId xmlns:a16="http://schemas.microsoft.com/office/drawing/2014/main" id="{FF79119A-2BF8-276C-339F-B85001753C1A}"/>
                </a:ext>
              </a:extLst>
            </p:cNvPr>
            <p:cNvSpPr/>
            <p:nvPr/>
          </p:nvSpPr>
          <p:spPr>
            <a:xfrm>
              <a:off x="7260336" y="3200400"/>
              <a:ext cx="1755648" cy="0"/>
            </a:xfrm>
            <a:prstGeom prst="line">
              <a:avLst/>
            </a:prstGeom>
            <a:noFill/>
            <a:ln w="12700">
              <a:solidFill>
                <a:srgbClr val="DCE1E8"/>
              </a:solidFill>
              <a:prstDash val="solid"/>
            </a:ln>
          </p:spPr>
        </p:sp>
        <p:sp>
          <p:nvSpPr>
            <p:cNvPr id="21" name="Text 30">
              <a:extLst>
                <a:ext uri="{FF2B5EF4-FFF2-40B4-BE49-F238E27FC236}">
                  <a16:creationId xmlns:a16="http://schemas.microsoft.com/office/drawing/2014/main" id="{9EE1A810-4CF2-7D95-1C67-7390E47D106D}"/>
                </a:ext>
              </a:extLst>
            </p:cNvPr>
            <p:cNvSpPr txBox="1"/>
            <p:nvPr/>
          </p:nvSpPr>
          <p:spPr>
            <a:xfrm>
              <a:off x="7260336" y="3337560"/>
              <a:ext cx="175564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5B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COMANDOS</a:t>
              </a:r>
              <a:endParaRPr lang="en-US" sz="900" dirty="0"/>
            </a:p>
          </p:txBody>
        </p:sp>
        <p:sp>
          <p:nvSpPr>
            <p:cNvPr id="22" name="Text 31">
              <a:extLst>
                <a:ext uri="{FF2B5EF4-FFF2-40B4-BE49-F238E27FC236}">
                  <a16:creationId xmlns:a16="http://schemas.microsoft.com/office/drawing/2014/main" id="{75984A40-1155-3D8F-9DBC-7F9F47C1DC45}"/>
                </a:ext>
              </a:extLst>
            </p:cNvPr>
            <p:cNvSpPr txBox="1"/>
            <p:nvPr/>
          </p:nvSpPr>
          <p:spPr>
            <a:xfrm>
              <a:off x="7260336" y="3566160"/>
              <a:ext cx="1755648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100" dirty="0">
                  <a:solidFill>
                    <a:srgbClr val="16233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i 10 → i 30 → i 20</a:t>
              </a:r>
              <a:endParaRPr lang="en-US" sz="1100" dirty="0"/>
            </a:p>
          </p:txBody>
        </p:sp>
        <p:sp>
          <p:nvSpPr>
            <p:cNvPr id="23" name="Text 32">
              <a:extLst>
                <a:ext uri="{FF2B5EF4-FFF2-40B4-BE49-F238E27FC236}">
                  <a16:creationId xmlns:a16="http://schemas.microsoft.com/office/drawing/2014/main" id="{BB9523B8-C127-0361-14BE-C3B956645FEB}"/>
                </a:ext>
              </a:extLst>
            </p:cNvPr>
            <p:cNvSpPr txBox="1"/>
            <p:nvPr/>
          </p:nvSpPr>
          <p:spPr>
            <a:xfrm>
              <a:off x="7260336" y="4892040"/>
              <a:ext cx="175564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5B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CORREÇÃO</a:t>
              </a:r>
              <a:endParaRPr lang="en-US" sz="900" dirty="0"/>
            </a:p>
          </p:txBody>
        </p:sp>
        <p:sp>
          <p:nvSpPr>
            <p:cNvPr id="24" name="Text 33">
              <a:extLst>
                <a:ext uri="{FF2B5EF4-FFF2-40B4-BE49-F238E27FC236}">
                  <a16:creationId xmlns:a16="http://schemas.microsoft.com/office/drawing/2014/main" id="{2A6394B6-CB83-B93E-A789-59E5D7AC1F4E}"/>
                </a:ext>
              </a:extLst>
            </p:cNvPr>
            <p:cNvSpPr txBox="1"/>
            <p:nvPr/>
          </p:nvSpPr>
          <p:spPr>
            <a:xfrm>
              <a:off x="7260336" y="5120640"/>
              <a:ext cx="1755648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050" b="1" dirty="0">
                  <a:solidFill>
                    <a:srgbClr val="2E7D32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corrige com  r 30  depois  l 10</a:t>
              </a:r>
              <a:endParaRPr lang="en-US" sz="1050" dirty="0"/>
            </a:p>
          </p:txBody>
        </p:sp>
      </p:grpSp>
      <p:pic>
        <p:nvPicPr>
          <p:cNvPr id="26" name="Imagem 25">
            <a:extLst>
              <a:ext uri="{FF2B5EF4-FFF2-40B4-BE49-F238E27FC236}">
                <a16:creationId xmlns:a16="http://schemas.microsoft.com/office/drawing/2014/main" id="{C4A404CB-644C-5094-099E-BB19439A5C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544" y="2500923"/>
            <a:ext cx="3384372" cy="2852617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C6C0DBC3-2B6C-8503-CBAE-3397CB6C57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546195"/>
            <a:ext cx="3542716" cy="284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822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76CE7F-A6FF-0231-52F4-99B5C3D69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821A3D2-9D79-A793-8549-C8912449A568}"/>
              </a:ext>
            </a:extLst>
          </p:cNvPr>
          <p:cNvSpPr txBox="1"/>
          <p:nvPr/>
        </p:nvSpPr>
        <p:spPr>
          <a:xfrm>
            <a:off x="548640" y="460326"/>
            <a:ext cx="4804508" cy="271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 ·  ROTEIRO DE COMANDOS NO JOGO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9B07133-D3D7-FFD6-A2F7-D2306B65C706}"/>
              </a:ext>
            </a:extLst>
          </p:cNvPr>
          <p:cNvSpPr txBox="1"/>
          <p:nvPr/>
        </p:nvSpPr>
        <p:spPr>
          <a:xfrm>
            <a:off x="548640" y="731161"/>
            <a:ext cx="5307106" cy="805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ao vivo: 5 atos</a:t>
            </a:r>
            <a:endParaRPr lang="en-US" sz="30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2233E8A9-7C26-4433-967B-040DB18FB352}"/>
              </a:ext>
            </a:extLst>
          </p:cNvPr>
          <p:cNvSpPr txBox="1"/>
          <p:nvPr/>
        </p:nvSpPr>
        <p:spPr>
          <a:xfrm>
            <a:off x="548640" y="6035040"/>
            <a:ext cx="4294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do Desafio AVL, executada sobre a base do modo BST · checkbox “heights” marcado</a:t>
            </a:r>
            <a:endParaRPr lang="en-US" sz="115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16C294EC-FDE9-8873-9300-8B79A0D035BC}"/>
              </a:ext>
            </a:extLst>
          </p:cNvPr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PokeTree · Modo Desafio de Balanceamento Ativo</a:t>
            </a:r>
            <a:endParaRPr lang="en-US" sz="95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5D7D0E7A-050D-B1AB-70EC-F7A3BA7365F9}"/>
              </a:ext>
            </a:extLst>
          </p:cNvPr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ea typeface="Calibri"/>
                <a:cs typeface="Calibri"/>
              </a:rPr>
              <a:t>14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19437107-A874-DF28-6DF2-9051DACDC0E7}"/>
              </a:ext>
            </a:extLst>
          </p:cNvPr>
          <p:cNvSpPr txBox="1"/>
          <p:nvPr/>
        </p:nvSpPr>
        <p:spPr>
          <a:xfrm>
            <a:off x="3617833" y="1865923"/>
            <a:ext cx="277905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b="1" dirty="0">
                <a:ea typeface="+mn-lt"/>
                <a:cs typeface="+mn-lt"/>
              </a:rPr>
              <a:t>Elementos inseridos em uma sequência crescente</a:t>
            </a:r>
            <a:endParaRPr lang="pt-BR" b="1" dirty="0"/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A98A83BF-44A5-D666-CF31-07B7FAE7F3BB}"/>
              </a:ext>
            </a:extLst>
          </p:cNvPr>
          <p:cNvSpPr txBox="1"/>
          <p:nvPr/>
        </p:nvSpPr>
        <p:spPr>
          <a:xfrm>
            <a:off x="7731714" y="3557034"/>
            <a:ext cx="46156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b="1" dirty="0">
                <a:ea typeface="+mn-lt"/>
                <a:cs typeface="+mn-lt"/>
              </a:rPr>
              <a:t>Estado Otimizado O(log n)</a:t>
            </a:r>
            <a:endParaRPr lang="pt-BR" b="1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161BC1C-A248-2CD7-9659-1E2353DF7B3C}"/>
              </a:ext>
            </a:extLst>
          </p:cNvPr>
          <p:cNvSpPr txBox="1"/>
          <p:nvPr/>
        </p:nvSpPr>
        <p:spPr>
          <a:xfrm>
            <a:off x="7929857" y="90911"/>
            <a:ext cx="42223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b="1" dirty="0">
                <a:ea typeface="+mn-lt"/>
                <a:cs typeface="+mn-lt"/>
              </a:rPr>
              <a:t>Início do Reequilíbrio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7CC0F12-5324-A720-8E00-AE35E8D59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9615" y="2487672"/>
            <a:ext cx="4054232" cy="288889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BA8F1E2-E44F-6685-A943-B8A4100F1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6027" y="459154"/>
            <a:ext cx="3383717" cy="288192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2A7B2AD-396C-6A46-4AF6-51DC54D915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6973" y="3937000"/>
            <a:ext cx="3381823" cy="2872154"/>
          </a:xfrm>
          <a:prstGeom prst="rect">
            <a:avLst/>
          </a:prstGeom>
        </p:spPr>
      </p:pic>
      <p:grpSp>
        <p:nvGrpSpPr>
          <p:cNvPr id="26" name="Agrupar 25">
            <a:extLst>
              <a:ext uri="{FF2B5EF4-FFF2-40B4-BE49-F238E27FC236}">
                <a16:creationId xmlns:a16="http://schemas.microsoft.com/office/drawing/2014/main" id="{3E473D8A-676E-45CF-83E9-58AC0CDF7D29}"/>
              </a:ext>
            </a:extLst>
          </p:cNvPr>
          <p:cNvGrpSpPr/>
          <p:nvPr/>
        </p:nvGrpSpPr>
        <p:grpSpPr>
          <a:xfrm>
            <a:off x="566928" y="2002715"/>
            <a:ext cx="2121408" cy="3840480"/>
            <a:chOff x="9253728" y="2011680"/>
            <a:chExt cx="2121408" cy="3840480"/>
          </a:xfrm>
        </p:grpSpPr>
        <p:sp>
          <p:nvSpPr>
            <p:cNvPr id="8" name="Shape 34">
              <a:extLst>
                <a:ext uri="{FF2B5EF4-FFF2-40B4-BE49-F238E27FC236}">
                  <a16:creationId xmlns:a16="http://schemas.microsoft.com/office/drawing/2014/main" id="{D769DE9E-056B-1AA6-5913-A16C1DCED825}"/>
                </a:ext>
              </a:extLst>
            </p:cNvPr>
            <p:cNvSpPr/>
            <p:nvPr/>
          </p:nvSpPr>
          <p:spPr>
            <a:xfrm>
              <a:off x="9253728" y="2011680"/>
              <a:ext cx="2121408" cy="3840480"/>
            </a:xfrm>
            <a:prstGeom prst="roundRect">
              <a:avLst>
                <a:gd name="adj" fmla="val 4310"/>
              </a:avLst>
            </a:prstGeom>
            <a:solidFill>
              <a:srgbClr val="C62828"/>
            </a:solidFill>
            <a:ln w="12700">
              <a:solidFill>
                <a:srgbClr val="C62828"/>
              </a:solidFill>
              <a:prstDash val="solid"/>
            </a:ln>
          </p:spPr>
        </p:sp>
        <p:sp>
          <p:nvSpPr>
            <p:cNvPr id="9" name="Text 35">
              <a:extLst>
                <a:ext uri="{FF2B5EF4-FFF2-40B4-BE49-F238E27FC236}">
                  <a16:creationId xmlns:a16="http://schemas.microsoft.com/office/drawing/2014/main" id="{A4E75DCC-AE99-F56A-7A8F-AD94B33267A3}"/>
                </a:ext>
              </a:extLst>
            </p:cNvPr>
            <p:cNvSpPr txBox="1"/>
            <p:nvPr/>
          </p:nvSpPr>
          <p:spPr>
            <a:xfrm>
              <a:off x="9436608" y="2240280"/>
              <a:ext cx="175564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kern="0" spc="150" dirty="0">
                  <a:solidFill>
                    <a:srgbClr val="FFE0E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ATO 5</a:t>
              </a:r>
              <a:endParaRPr lang="en-US" sz="1050" dirty="0"/>
            </a:p>
          </p:txBody>
        </p:sp>
        <p:sp>
          <p:nvSpPr>
            <p:cNvPr id="10" name="Text 36">
              <a:extLst>
                <a:ext uri="{FF2B5EF4-FFF2-40B4-BE49-F238E27FC236}">
                  <a16:creationId xmlns:a16="http://schemas.microsoft.com/office/drawing/2014/main" id="{AD3B6FEA-C670-0ADB-B052-1E51BBE9B51D}"/>
                </a:ext>
              </a:extLst>
            </p:cNvPr>
            <p:cNvSpPr txBox="1"/>
            <p:nvPr/>
          </p:nvSpPr>
          <p:spPr>
            <a:xfrm>
              <a:off x="9436608" y="2542032"/>
              <a:ext cx="175564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Pior caso O(n)</a:t>
              </a:r>
              <a:endParaRPr lang="en-US" sz="1600" dirty="0"/>
            </a:p>
          </p:txBody>
        </p:sp>
        <p:sp>
          <p:nvSpPr>
            <p:cNvPr id="11" name="Shape 37">
              <a:extLst>
                <a:ext uri="{FF2B5EF4-FFF2-40B4-BE49-F238E27FC236}">
                  <a16:creationId xmlns:a16="http://schemas.microsoft.com/office/drawing/2014/main" id="{10609207-0767-FCB5-6D54-B84D46060D9E}"/>
                </a:ext>
              </a:extLst>
            </p:cNvPr>
            <p:cNvSpPr/>
            <p:nvPr/>
          </p:nvSpPr>
          <p:spPr>
            <a:xfrm>
              <a:off x="9436608" y="3200400"/>
              <a:ext cx="1755648" cy="0"/>
            </a:xfrm>
            <a:prstGeom prst="line">
              <a:avLst/>
            </a:prstGeom>
            <a:noFill/>
            <a:ln w="12700">
              <a:solidFill>
                <a:srgbClr val="E57373"/>
              </a:solidFill>
              <a:prstDash val="solid"/>
            </a:ln>
          </p:spPr>
        </p:sp>
        <p:sp>
          <p:nvSpPr>
            <p:cNvPr id="12" name="Text 38">
              <a:extLst>
                <a:ext uri="{FF2B5EF4-FFF2-40B4-BE49-F238E27FC236}">
                  <a16:creationId xmlns:a16="http://schemas.microsoft.com/office/drawing/2014/main" id="{74FD62F1-0D21-FBDB-758F-5B5E02BC01A7}"/>
                </a:ext>
              </a:extLst>
            </p:cNvPr>
            <p:cNvSpPr txBox="1"/>
            <p:nvPr/>
          </p:nvSpPr>
          <p:spPr>
            <a:xfrm>
              <a:off x="9436608" y="3337560"/>
              <a:ext cx="175564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FFE0E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COMANDOS</a:t>
              </a:r>
              <a:endParaRPr lang="en-US" sz="900" dirty="0"/>
            </a:p>
          </p:txBody>
        </p:sp>
        <p:sp>
          <p:nvSpPr>
            <p:cNvPr id="13" name="Text 39">
              <a:extLst>
                <a:ext uri="{FF2B5EF4-FFF2-40B4-BE49-F238E27FC236}">
                  <a16:creationId xmlns:a16="http://schemas.microsoft.com/office/drawing/2014/main" id="{B17C53FA-4BD7-F227-9470-9C0BF068573C}"/>
                </a:ext>
              </a:extLst>
            </p:cNvPr>
            <p:cNvSpPr txBox="1"/>
            <p:nvPr/>
          </p:nvSpPr>
          <p:spPr>
            <a:xfrm>
              <a:off x="9436608" y="3566160"/>
              <a:ext cx="1755648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100" dirty="0">
                  <a:solidFill>
                    <a:srgbClr val="FFFFF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i 1 → i 2 → i 3 → i 4 → i 5</a:t>
              </a:r>
              <a:endParaRPr lang="en-US" sz="1100" dirty="0"/>
            </a:p>
          </p:txBody>
        </p:sp>
        <p:sp>
          <p:nvSpPr>
            <p:cNvPr id="14" name="Text 40">
              <a:extLst>
                <a:ext uri="{FF2B5EF4-FFF2-40B4-BE49-F238E27FC236}">
                  <a16:creationId xmlns:a16="http://schemas.microsoft.com/office/drawing/2014/main" id="{418CB7FC-756D-2C5B-FF39-448DC7C2CF2D}"/>
                </a:ext>
              </a:extLst>
            </p:cNvPr>
            <p:cNvSpPr txBox="1"/>
            <p:nvPr/>
          </p:nvSpPr>
          <p:spPr>
            <a:xfrm>
              <a:off x="9436608" y="4892040"/>
              <a:ext cx="175564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FFE0E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CORREÇÃO</a:t>
              </a:r>
              <a:endParaRPr lang="en-US" sz="900" dirty="0"/>
            </a:p>
          </p:txBody>
        </p:sp>
        <p:sp>
          <p:nvSpPr>
            <p:cNvPr id="16" name="Text 41">
              <a:extLst>
                <a:ext uri="{FF2B5EF4-FFF2-40B4-BE49-F238E27FC236}">
                  <a16:creationId xmlns:a16="http://schemas.microsoft.com/office/drawing/2014/main" id="{3A686F10-F92F-079F-0382-CBFD12EB3ABA}"/>
                </a:ext>
              </a:extLst>
            </p:cNvPr>
            <p:cNvSpPr txBox="1"/>
            <p:nvPr/>
          </p:nvSpPr>
          <p:spPr>
            <a:xfrm>
              <a:off x="9436608" y="5120640"/>
              <a:ext cx="1755648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corrige com  l 1  depois  l 3</a:t>
              </a:r>
              <a:endParaRPr lang="en-US" sz="1050" dirty="0"/>
            </a:p>
          </p:txBody>
        </p:sp>
      </p:grpSp>
    </p:spTree>
    <p:extLst>
      <p:ext uri="{BB962C8B-B14F-4D97-AF65-F5344CB8AC3E}">
        <p14:creationId xmlns:p14="http://schemas.microsoft.com/office/powerpoint/2010/main" val="15587158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CONDIÇÃO DE DERROTA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Derrota ligada ao pior caso de complexidade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87494" y="1810622"/>
            <a:ext cx="5330952" cy="4014216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 CONTROLE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 flipV="1">
            <a:off x="2194560" y="3172968"/>
            <a:ext cx="868680" cy="73152"/>
          </a:xfrm>
          <a:prstGeom prst="line">
            <a:avLst/>
          </a:prstGeom>
          <a:noFill/>
          <a:ln w="15875">
            <a:solidFill>
              <a:srgbClr val="5B647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063240" y="3172968"/>
            <a:ext cx="868680" cy="73152"/>
          </a:xfrm>
          <a:prstGeom prst="line">
            <a:avLst/>
          </a:prstGeom>
          <a:noFill/>
          <a:ln w="15875">
            <a:solidFill>
              <a:srgbClr val="5B647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 flipV="1">
            <a:off x="1760220" y="3831336"/>
            <a:ext cx="434340" cy="73152"/>
          </a:xfrm>
          <a:prstGeom prst="line">
            <a:avLst/>
          </a:prstGeom>
          <a:noFill/>
          <a:ln w="15875">
            <a:solidFill>
              <a:srgbClr val="5B647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2194560" y="3831336"/>
            <a:ext cx="434340" cy="73152"/>
          </a:xfrm>
          <a:prstGeom prst="line">
            <a:avLst/>
          </a:prstGeom>
          <a:noFill/>
          <a:ln w="15875">
            <a:solidFill>
              <a:srgbClr val="5B647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 flipV="1">
            <a:off x="3497580" y="3831336"/>
            <a:ext cx="434340" cy="73152"/>
          </a:xfrm>
          <a:prstGeom prst="line">
            <a:avLst/>
          </a:prstGeom>
          <a:noFill/>
          <a:ln w="15875">
            <a:solidFill>
              <a:srgbClr val="5B647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931920" y="3831336"/>
            <a:ext cx="434340" cy="73152"/>
          </a:xfrm>
          <a:prstGeom prst="line">
            <a:avLst/>
          </a:prstGeom>
          <a:noFill/>
          <a:ln w="15875">
            <a:solidFill>
              <a:srgbClr val="5B647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2770632" y="2587752"/>
            <a:ext cx="585216" cy="585216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1901952" y="3246120"/>
            <a:ext cx="585216" cy="585216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639312" y="3246120"/>
            <a:ext cx="585216" cy="585216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467612" y="3904488"/>
            <a:ext cx="585216" cy="585216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2336292" y="3904488"/>
            <a:ext cx="585216" cy="585216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3204972" y="3904488"/>
            <a:ext cx="585216" cy="585216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4073652" y="3904488"/>
            <a:ext cx="585216" cy="585216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68680" y="52578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Altura ~ log₂(n) — busca eficiente mantida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8212" y="1869948"/>
            <a:ext cx="5166360" cy="3922776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662940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COLAPSO — DERROTA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39128" y="2578608"/>
            <a:ext cx="512064" cy="512064"/>
          </a:xfrm>
          <a:prstGeom prst="ellipse">
            <a:avLst/>
          </a:prstGeom>
          <a:solidFill>
            <a:srgbClr val="E9A3A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6995160" y="3090672"/>
            <a:ext cx="594360" cy="54864"/>
          </a:xfrm>
          <a:prstGeom prst="line">
            <a:avLst/>
          </a:prstGeom>
          <a:noFill/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7333488" y="3145536"/>
            <a:ext cx="512064" cy="512064"/>
          </a:xfrm>
          <a:prstGeom prst="ellipse">
            <a:avLst/>
          </a:prstGeom>
          <a:solidFill>
            <a:srgbClr val="E9A3A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7589520" y="3657600"/>
            <a:ext cx="594360" cy="54864"/>
          </a:xfrm>
          <a:prstGeom prst="line">
            <a:avLst/>
          </a:prstGeom>
          <a:noFill/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7927848" y="3712464"/>
            <a:ext cx="512064" cy="512064"/>
          </a:xfrm>
          <a:prstGeom prst="ellipse">
            <a:avLst/>
          </a:prstGeom>
          <a:solidFill>
            <a:srgbClr val="E9A3A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8183880" y="4224528"/>
            <a:ext cx="594360" cy="54864"/>
          </a:xfrm>
          <a:prstGeom prst="line">
            <a:avLst/>
          </a:prstGeom>
          <a:noFill/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8522208" y="4279392"/>
            <a:ext cx="512064" cy="512064"/>
          </a:xfrm>
          <a:prstGeom prst="ellipse">
            <a:avLst/>
          </a:prstGeom>
          <a:solidFill>
            <a:srgbClr val="E9A3A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8778240" y="4791456"/>
            <a:ext cx="594360" cy="54864"/>
          </a:xfrm>
          <a:prstGeom prst="line">
            <a:avLst/>
          </a:prstGeom>
          <a:noFill/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9116568" y="4846320"/>
            <a:ext cx="512064" cy="512064"/>
          </a:xfrm>
          <a:prstGeom prst="ellipse">
            <a:avLst/>
          </a:prstGeom>
          <a:solidFill>
            <a:srgbClr val="C6282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6629400" y="52578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Altura = n − 1 — busca degrada para O(n)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943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derrota:  </a:t>
            </a:r>
            <a:r>
              <a:rPr lang="en-US" sz="16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jogador ignorar |FB| &gt; 1 por mais de 2 comandos consecutivos, a Pokédex “colapsa” — simulando o pior caso O(n) de uma BST degenerada.</a:t>
            </a:r>
            <a:endParaRPr lang="en-US" sz="1600" b="1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PokeTree · Modo Desafio de Balanceamento Ativo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15</a:t>
            </a:r>
            <a:endParaRPr lang="pt-PT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563149" y="779069"/>
            <a:ext cx="819302" cy="672998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3" name="Shape 1"/>
          <p:cNvSpPr/>
          <p:nvPr/>
        </p:nvSpPr>
        <p:spPr>
          <a:xfrm>
            <a:off x="11382451" y="779069"/>
            <a:ext cx="819302" cy="672998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4" name="Shape 2"/>
          <p:cNvSpPr/>
          <p:nvPr/>
        </p:nvSpPr>
        <p:spPr>
          <a:xfrm>
            <a:off x="11060582" y="457200"/>
            <a:ext cx="643738" cy="643738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5" name="Shape 3"/>
          <p:cNvSpPr/>
          <p:nvPr/>
        </p:nvSpPr>
        <p:spPr>
          <a:xfrm>
            <a:off x="10241280" y="1452067"/>
            <a:ext cx="643738" cy="643738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6" name="Shape 4"/>
          <p:cNvSpPr/>
          <p:nvPr/>
        </p:nvSpPr>
        <p:spPr>
          <a:xfrm>
            <a:off x="11879885" y="1452067"/>
            <a:ext cx="643738" cy="643738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7" name="Shape 5"/>
          <p:cNvSpPr/>
          <p:nvPr/>
        </p:nvSpPr>
        <p:spPr>
          <a:xfrm flipV="1">
            <a:off x="10563149" y="2333549"/>
            <a:ext cx="819302" cy="672998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8" name="Shape 6"/>
          <p:cNvSpPr/>
          <p:nvPr/>
        </p:nvSpPr>
        <p:spPr>
          <a:xfrm>
            <a:off x="11382451" y="2333549"/>
            <a:ext cx="819302" cy="672998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9" name="Shape 7"/>
          <p:cNvSpPr/>
          <p:nvPr/>
        </p:nvSpPr>
        <p:spPr>
          <a:xfrm>
            <a:off x="11060582" y="2011680"/>
            <a:ext cx="643738" cy="643738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0" name="Shape 8"/>
          <p:cNvSpPr/>
          <p:nvPr/>
        </p:nvSpPr>
        <p:spPr>
          <a:xfrm>
            <a:off x="10241280" y="3006547"/>
            <a:ext cx="643738" cy="643738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1" name="Shape 9"/>
          <p:cNvSpPr/>
          <p:nvPr/>
        </p:nvSpPr>
        <p:spPr>
          <a:xfrm>
            <a:off x="11879885" y="3006547"/>
            <a:ext cx="643738" cy="643738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2" name="Shape 10"/>
          <p:cNvSpPr/>
          <p:nvPr/>
        </p:nvSpPr>
        <p:spPr>
          <a:xfrm flipV="1">
            <a:off x="10563149" y="3888029"/>
            <a:ext cx="819302" cy="672998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3" name="Shape 11"/>
          <p:cNvSpPr/>
          <p:nvPr/>
        </p:nvSpPr>
        <p:spPr>
          <a:xfrm>
            <a:off x="11382451" y="3888029"/>
            <a:ext cx="819302" cy="672998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4" name="Shape 12"/>
          <p:cNvSpPr/>
          <p:nvPr/>
        </p:nvSpPr>
        <p:spPr>
          <a:xfrm>
            <a:off x="11060582" y="3566160"/>
            <a:ext cx="643738" cy="643738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5" name="Shape 13"/>
          <p:cNvSpPr/>
          <p:nvPr/>
        </p:nvSpPr>
        <p:spPr>
          <a:xfrm>
            <a:off x="10241280" y="4561027"/>
            <a:ext cx="643738" cy="643738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6" name="Shape 14"/>
          <p:cNvSpPr/>
          <p:nvPr/>
        </p:nvSpPr>
        <p:spPr>
          <a:xfrm>
            <a:off x="11879885" y="4561027"/>
            <a:ext cx="643738" cy="643738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7" name="Shape 15"/>
          <p:cNvSpPr/>
          <p:nvPr/>
        </p:nvSpPr>
        <p:spPr>
          <a:xfrm flipV="1">
            <a:off x="10563149" y="5442509"/>
            <a:ext cx="819302" cy="672998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8" name="Shape 16"/>
          <p:cNvSpPr/>
          <p:nvPr/>
        </p:nvSpPr>
        <p:spPr>
          <a:xfrm>
            <a:off x="11382451" y="5442509"/>
            <a:ext cx="819302" cy="672998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9" name="Shape 17"/>
          <p:cNvSpPr/>
          <p:nvPr/>
        </p:nvSpPr>
        <p:spPr>
          <a:xfrm>
            <a:off x="11060582" y="5120640"/>
            <a:ext cx="643738" cy="643738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20" name="Shape 18"/>
          <p:cNvSpPr/>
          <p:nvPr/>
        </p:nvSpPr>
        <p:spPr>
          <a:xfrm>
            <a:off x="10241280" y="6115507"/>
            <a:ext cx="643738" cy="643738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21" name="Shape 19"/>
          <p:cNvSpPr/>
          <p:nvPr/>
        </p:nvSpPr>
        <p:spPr>
          <a:xfrm>
            <a:off x="11879885" y="6115507"/>
            <a:ext cx="643738" cy="643738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22" name="Text 20"/>
          <p:cNvSpPr txBox="1"/>
          <p:nvPr/>
        </p:nvSpPr>
        <p:spPr>
          <a:xfrm>
            <a:off x="548640" y="594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DE AUTOAVALIAÇÃO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Todos os requisitos cobertos</a:t>
            </a:r>
            <a:endParaRPr lang="en-US" sz="3200" dirty="0"/>
          </a:p>
        </p:txBody>
      </p:sp>
      <p:sp>
        <p:nvSpPr>
          <p:cNvPr id="24" name="Shape 22"/>
          <p:cNvSpPr/>
          <p:nvPr/>
        </p:nvSpPr>
        <p:spPr>
          <a:xfrm>
            <a:off x="548640" y="1965960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192024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Jogo/modelo base identificado e citado (PokeTree, MIT 6.1210)</a:t>
            </a:r>
            <a:endParaRPr lang="en-US" sz="1500" b="1" dirty="0"/>
          </a:p>
        </p:txBody>
      </p:sp>
      <p:sp>
        <p:nvSpPr>
          <p:cNvPr id="27" name="Shape 25"/>
          <p:cNvSpPr/>
          <p:nvPr/>
        </p:nvSpPr>
        <p:spPr>
          <a:xfrm>
            <a:off x="548640" y="2743200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4864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" y="26974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exige aplicação prática de ED II (AVL / Fator de Balanceamento)</a:t>
            </a:r>
            <a:endParaRPr lang="en-US" sz="1500" b="1" dirty="0"/>
          </a:p>
        </p:txBody>
      </p:sp>
      <p:sp>
        <p:nvSpPr>
          <p:cNvPr id="30" name="Shape 28"/>
          <p:cNvSpPr/>
          <p:nvPr/>
        </p:nvSpPr>
        <p:spPr>
          <a:xfrm>
            <a:off x="548640" y="3520440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4864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1143000" y="34747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Propriedades algorítmicas traduzidas em mecânicas ativas de jogo</a:t>
            </a:r>
            <a:endParaRPr lang="en-US" sz="1500" b="1" dirty="0"/>
          </a:p>
        </p:txBody>
      </p:sp>
      <p:sp>
        <p:nvSpPr>
          <p:cNvPr id="33" name="Shape 31"/>
          <p:cNvSpPr/>
          <p:nvPr/>
        </p:nvSpPr>
        <p:spPr>
          <a:xfrm>
            <a:off x="548640" y="4297680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48640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143000" y="42519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Condição de derrota associada ao pior caso de complexidade O(n)</a:t>
            </a:r>
            <a:endParaRPr lang="en-US" sz="1500" b="1" dirty="0"/>
          </a:p>
        </p:txBody>
      </p:sp>
      <p:sp>
        <p:nvSpPr>
          <p:cNvPr id="36" name="Shape 34"/>
          <p:cNvSpPr/>
          <p:nvPr/>
        </p:nvSpPr>
        <p:spPr>
          <a:xfrm>
            <a:off x="548640" y="5074920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48640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1143000" y="50292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preparado para a defesa em Pitch de 3 minutos</a:t>
            </a:r>
            <a:endParaRPr lang="en-US" sz="1500" b="1" dirty="0"/>
          </a:p>
        </p:txBody>
      </p:sp>
      <p:sp>
        <p:nvSpPr>
          <p:cNvPr id="39" name="Shape 37"/>
          <p:cNvSpPr/>
          <p:nvPr/>
        </p:nvSpPr>
        <p:spPr>
          <a:xfrm>
            <a:off x="548640" y="6126480"/>
            <a:ext cx="20116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4864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7D0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 Perguntas?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1402</Words>
  <Application>Microsoft Office PowerPoint</Application>
  <PresentationFormat>Ecrã Panorâmico</PresentationFormat>
  <Paragraphs>241</Paragraphs>
  <Slides>16</Slides>
  <Notes>16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16</vt:i4>
      </vt:variant>
    </vt:vector>
  </HeadingPairs>
  <TitlesOfParts>
    <vt:vector size="17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 </cp:lastModifiedBy>
  <cp:revision>291</cp:revision>
  <dcterms:created xsi:type="dcterms:W3CDTF">2026-09-19T13:43:35Z</dcterms:created>
  <dcterms:modified xsi:type="dcterms:W3CDTF">2026-09-21T12:06:11Z</dcterms:modified>
</cp:coreProperties>
</file>